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73"/>
  </p:notesMasterIdLst>
  <p:sldIdLst>
    <p:sldId id="758" r:id="rId2"/>
    <p:sldId id="760" r:id="rId3"/>
    <p:sldId id="787" r:id="rId4"/>
    <p:sldId id="759" r:id="rId5"/>
    <p:sldId id="628" r:id="rId6"/>
    <p:sldId id="788" r:id="rId7"/>
    <p:sldId id="649" r:id="rId8"/>
    <p:sldId id="790" r:id="rId9"/>
    <p:sldId id="789" r:id="rId10"/>
    <p:sldId id="791" r:id="rId11"/>
    <p:sldId id="792" r:id="rId12"/>
    <p:sldId id="793" r:id="rId13"/>
    <p:sldId id="795" r:id="rId14"/>
    <p:sldId id="794" r:id="rId15"/>
    <p:sldId id="796" r:id="rId16"/>
    <p:sldId id="797" r:id="rId17"/>
    <p:sldId id="798" r:id="rId18"/>
    <p:sldId id="799" r:id="rId19"/>
    <p:sldId id="803" r:id="rId20"/>
    <p:sldId id="804" r:id="rId21"/>
    <p:sldId id="805" r:id="rId22"/>
    <p:sldId id="806" r:id="rId23"/>
    <p:sldId id="807" r:id="rId24"/>
    <p:sldId id="808" r:id="rId25"/>
    <p:sldId id="641" r:id="rId26"/>
    <p:sldId id="810" r:id="rId27"/>
    <p:sldId id="811" r:id="rId28"/>
    <p:sldId id="633" r:id="rId29"/>
    <p:sldId id="812" r:id="rId30"/>
    <p:sldId id="861" r:id="rId31"/>
    <p:sldId id="815" r:id="rId32"/>
    <p:sldId id="813" r:id="rId33"/>
    <p:sldId id="816" r:id="rId34"/>
    <p:sldId id="817" r:id="rId35"/>
    <p:sldId id="818" r:id="rId36"/>
    <p:sldId id="819" r:id="rId37"/>
    <p:sldId id="820" r:id="rId38"/>
    <p:sldId id="821" r:id="rId39"/>
    <p:sldId id="822" r:id="rId40"/>
    <p:sldId id="823" r:id="rId41"/>
    <p:sldId id="824" r:id="rId42"/>
    <p:sldId id="825" r:id="rId43"/>
    <p:sldId id="826" r:id="rId44"/>
    <p:sldId id="827" r:id="rId45"/>
    <p:sldId id="828" r:id="rId46"/>
    <p:sldId id="829" r:id="rId47"/>
    <p:sldId id="830" r:id="rId48"/>
    <p:sldId id="837" r:id="rId49"/>
    <p:sldId id="832" r:id="rId50"/>
    <p:sldId id="833" r:id="rId51"/>
    <p:sldId id="834" r:id="rId52"/>
    <p:sldId id="835" r:id="rId53"/>
    <p:sldId id="836" r:id="rId54"/>
    <p:sldId id="831" r:id="rId55"/>
    <p:sldId id="838" r:id="rId56"/>
    <p:sldId id="762" r:id="rId57"/>
    <p:sldId id="841" r:id="rId58"/>
    <p:sldId id="842" r:id="rId59"/>
    <p:sldId id="843" r:id="rId60"/>
    <p:sldId id="844" r:id="rId61"/>
    <p:sldId id="846" r:id="rId62"/>
    <p:sldId id="847" r:id="rId63"/>
    <p:sldId id="848" r:id="rId64"/>
    <p:sldId id="849" r:id="rId65"/>
    <p:sldId id="850" r:id="rId66"/>
    <p:sldId id="851" r:id="rId67"/>
    <p:sldId id="852" r:id="rId68"/>
    <p:sldId id="771" r:id="rId69"/>
    <p:sldId id="854" r:id="rId70"/>
    <p:sldId id="855" r:id="rId71"/>
    <p:sldId id="291" r:id="rId72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geekette" initials="g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31" autoAdjust="0"/>
    <p:restoredTop sz="81201" autoAdjust="0"/>
  </p:normalViewPr>
  <p:slideViewPr>
    <p:cSldViewPr snapToGrid="0" showGuides="1">
      <p:cViewPr varScale="1">
        <p:scale>
          <a:sx n="92" d="100"/>
          <a:sy n="92" d="100"/>
        </p:scale>
        <p:origin x="1286" y="62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1/8/2020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r>
              <a:rPr lang="en-US" dirty="0"/>
              <a:t>Introduction to Networks v6.0</a:t>
            </a:r>
          </a:p>
          <a:p>
            <a:pPr>
              <a:buFontTx/>
              <a:buNone/>
            </a:pPr>
            <a:r>
              <a:rPr lang="en-US" sz="1200" b="0" dirty="0"/>
              <a:t>Chapter 7: IP Addressing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80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/>
              <a:pPr algn="r"/>
              <a:t>2</a:t>
            </a:fld>
            <a:endParaRPr lang="en-US" sz="800" b="0" dirty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 v6.0</a:t>
            </a:r>
          </a:p>
          <a:p>
            <a:pPr>
              <a:buFontTx/>
              <a:buNone/>
            </a:pPr>
            <a:r>
              <a:rPr lang="en-US" sz="1200" b="0" dirty="0"/>
              <a:t>Chapter 7: IP</a:t>
            </a:r>
            <a:r>
              <a:rPr lang="en-US" sz="1200" b="0" baseline="0" dirty="0"/>
              <a:t> Addressing</a:t>
            </a:r>
            <a:endParaRPr lang="en-GB" b="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4752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/>
              <a:pPr algn="r"/>
              <a:t>3</a:t>
            </a:fld>
            <a:endParaRPr lang="en-US" sz="800" b="0" dirty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CCNA Routing and Switching v6.0</a:t>
            </a:r>
          </a:p>
          <a:p>
            <a:pPr>
              <a:buFontTx/>
              <a:buNone/>
            </a:pPr>
            <a:r>
              <a:rPr lang="en-US" sz="1200" b="0" dirty="0"/>
              <a:t>Chapter 7: IP Addressing</a:t>
            </a:r>
            <a:endParaRPr lang="en-GB" b="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7392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7 – IP Addressing</a:t>
            </a:r>
          </a:p>
          <a:p>
            <a:pPr>
              <a:buFontTx/>
              <a:buNone/>
            </a:pPr>
            <a:r>
              <a:rPr lang="en-US" sz="1200" b="0" dirty="0"/>
              <a:t>7.1 – IPv4 Network Addresses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b="0" dirty="0"/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7.1.1 – Binary and Decimal Conversion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7.1.1.1 IPv4</a:t>
            </a:r>
            <a:r>
              <a:rPr lang="en-US" baseline="0" dirty="0">
                <a:latin typeface="Arial" charset="0"/>
              </a:rPr>
              <a:t> Addresses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6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b="0" dirty="0"/>
              <a:t>7.1 – IPv4 Network Addresses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7.1.1 – Binary and Decimal Conversion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7.1.1.1 IPv4</a:t>
            </a:r>
            <a:r>
              <a:rPr lang="en-US" baseline="0" dirty="0">
                <a:latin typeface="Arial" charset="0"/>
              </a:rPr>
              <a:t> Addresses (Cont.)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779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7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dirty="0"/>
              <a:t>7.1 – IPv4 Network Addresses</a:t>
            </a:r>
            <a:endParaRPr lang="en-US" dirty="0"/>
          </a:p>
          <a:p>
            <a:r>
              <a:rPr lang="en-US" dirty="0"/>
              <a:t>7.1.1 – Binary and decimal Conversion</a:t>
            </a:r>
          </a:p>
          <a:p>
            <a:r>
              <a:rPr lang="en-US" dirty="0"/>
              <a:t>7.1.1.2–Video Demonstration</a:t>
            </a:r>
            <a:r>
              <a:rPr lang="en-US" baseline="0" dirty="0"/>
              <a:t> -</a:t>
            </a:r>
            <a:r>
              <a:rPr lang="en-US" dirty="0"/>
              <a:t> Converting Between Binary and Decimal Numbering System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8389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8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7.1.1 – Binary and Decimal Conversion</a:t>
            </a:r>
          </a:p>
          <a:p>
            <a:r>
              <a:rPr lang="en-US" dirty="0">
                <a:latin typeface="Arial" charset="0"/>
              </a:rPr>
              <a:t>7.1.1.3 </a:t>
            </a:r>
            <a:r>
              <a:rPr lang="en-US" b="0" dirty="0"/>
              <a:t>Positional Notation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480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9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7.1.1 – Binary and Decimal Conversion</a:t>
            </a:r>
          </a:p>
          <a:p>
            <a:r>
              <a:rPr lang="en-US" dirty="0">
                <a:latin typeface="Arial" charset="0"/>
              </a:rPr>
              <a:t>7.1.1.3 </a:t>
            </a:r>
            <a:r>
              <a:rPr lang="en-US" b="0" dirty="0"/>
              <a:t>Positional Notation (Cont.)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95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10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7.1.1 – Binary and Decimal Conversion</a:t>
            </a:r>
          </a:p>
          <a:p>
            <a:r>
              <a:rPr lang="en-US" dirty="0">
                <a:latin typeface="Arial" charset="0"/>
              </a:rPr>
              <a:t>7.1.1.4 </a:t>
            </a:r>
            <a:r>
              <a:rPr lang="en-US" b="0" dirty="0"/>
              <a:t>Binary to Decimal Conversion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804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11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7.1.1 – Binary and Decimal Conversion</a:t>
            </a:r>
          </a:p>
          <a:p>
            <a:r>
              <a:rPr lang="en-US">
                <a:latin typeface="Arial" charset="0"/>
              </a:rPr>
              <a:t>7.1.1.6 </a:t>
            </a:r>
            <a:r>
              <a:rPr lang="en-US" b="0" dirty="0"/>
              <a:t>Decimal to Binary Conversion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73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12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7.1.1 – Binary and Decimal Conversion</a:t>
            </a:r>
          </a:p>
          <a:p>
            <a:r>
              <a:rPr lang="en-US" dirty="0">
                <a:latin typeface="Arial" charset="0"/>
              </a:rPr>
              <a:t>7.1.1.7 </a:t>
            </a:r>
            <a:r>
              <a:rPr lang="en-US" b="0" dirty="0"/>
              <a:t>Decimal to Binary Conversion 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187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13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7.1.2 – IPv4 Address Structure</a:t>
            </a:r>
          </a:p>
          <a:p>
            <a:r>
              <a:rPr lang="en-US" dirty="0">
                <a:latin typeface="Arial" charset="0"/>
              </a:rPr>
              <a:t>7.1.2.1 </a:t>
            </a:r>
            <a:r>
              <a:rPr lang="en-US" b="0" dirty="0"/>
              <a:t>Network and Host Portions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080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7.1.2 – IPv4 Address Structure</a:t>
            </a:r>
          </a:p>
          <a:p>
            <a:r>
              <a:rPr lang="en-US" dirty="0">
                <a:latin typeface="Arial" charset="0"/>
              </a:rPr>
              <a:t>7.1.2.2</a:t>
            </a:r>
            <a:r>
              <a:rPr lang="en-US" baseline="0" dirty="0">
                <a:latin typeface="Arial" charset="0"/>
              </a:rPr>
              <a:t> -</a:t>
            </a:r>
            <a:r>
              <a:rPr lang="en-US" b="0" dirty="0"/>
              <a:t>The Subnet Mask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2804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7.1.2 – IPv4 Address Structure</a:t>
            </a:r>
          </a:p>
          <a:p>
            <a:r>
              <a:rPr lang="en-US" dirty="0">
                <a:latin typeface="Arial" charset="0"/>
              </a:rPr>
              <a:t>7.1.2.2</a:t>
            </a:r>
            <a:r>
              <a:rPr lang="en-US" baseline="0" dirty="0">
                <a:latin typeface="Arial" charset="0"/>
              </a:rPr>
              <a:t> -</a:t>
            </a:r>
            <a:r>
              <a:rPr lang="en-US" b="0" dirty="0"/>
              <a:t>The Subnet Mask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110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16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7.1.2 – IPv4 Address Structure</a:t>
            </a:r>
          </a:p>
          <a:p>
            <a:r>
              <a:rPr lang="en-US" dirty="0">
                <a:latin typeface="Arial" charset="0"/>
              </a:rPr>
              <a:t>7.1.2.3</a:t>
            </a:r>
            <a:r>
              <a:rPr lang="en-US" baseline="0" dirty="0">
                <a:latin typeface="Arial" charset="0"/>
              </a:rPr>
              <a:t> -</a:t>
            </a:r>
            <a:r>
              <a:rPr lang="en-US" b="0" dirty="0"/>
              <a:t>Logical AND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015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17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7.1.2 – IPv4 Address Structure</a:t>
            </a:r>
          </a:p>
          <a:p>
            <a:r>
              <a:rPr lang="en-US" dirty="0">
                <a:latin typeface="Arial" charset="0"/>
              </a:rPr>
              <a:t>7.1.2.5</a:t>
            </a:r>
            <a:r>
              <a:rPr lang="en-US" baseline="0" dirty="0">
                <a:latin typeface="Arial" charset="0"/>
              </a:rPr>
              <a:t> -</a:t>
            </a:r>
            <a:r>
              <a:rPr lang="en-US" b="0" dirty="0"/>
              <a:t> The Prefix Length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9443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18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7.1.2 – IPv4 Address Structure</a:t>
            </a:r>
          </a:p>
          <a:p>
            <a:r>
              <a:rPr lang="en-US" dirty="0">
                <a:latin typeface="Arial" charset="0"/>
              </a:rPr>
              <a:t>7.1.2.6</a:t>
            </a:r>
            <a:r>
              <a:rPr lang="en-US" baseline="0" dirty="0">
                <a:latin typeface="Arial" charset="0"/>
              </a:rPr>
              <a:t> -</a:t>
            </a:r>
            <a:r>
              <a:rPr lang="en-US" b="0" dirty="0"/>
              <a:t> Network, Host, and Broadcast Addresses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993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19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7.1.3 – IPv4 Unicast, Broadcast, and Multicast</a:t>
            </a:r>
          </a:p>
          <a:p>
            <a:r>
              <a:rPr lang="en-US" dirty="0">
                <a:latin typeface="Arial" charset="0"/>
              </a:rPr>
              <a:t>7.1.3.1</a:t>
            </a:r>
            <a:r>
              <a:rPr lang="en-US" baseline="0" dirty="0">
                <a:latin typeface="Arial" charset="0"/>
              </a:rPr>
              <a:t> -</a:t>
            </a:r>
            <a:r>
              <a:rPr lang="en-US" b="0" dirty="0"/>
              <a:t> Static IPv4 Address Assignment to a Host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883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20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7.1.3 – IPv4 Unicast, Broadcast, and Multicast</a:t>
            </a:r>
          </a:p>
          <a:p>
            <a:r>
              <a:rPr lang="en-US" dirty="0">
                <a:latin typeface="Arial" charset="0"/>
              </a:rPr>
              <a:t>7.1.3.2</a:t>
            </a:r>
            <a:r>
              <a:rPr lang="en-US" baseline="0" dirty="0">
                <a:latin typeface="Arial" charset="0"/>
              </a:rPr>
              <a:t> -</a:t>
            </a:r>
            <a:r>
              <a:rPr lang="en-US" b="0" dirty="0"/>
              <a:t> Dynamic IPv4 Address Assignment to a Host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6598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21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7.1.3 – IPv4 Unicast, Broadcast, and Multicast</a:t>
            </a:r>
          </a:p>
          <a:p>
            <a:r>
              <a:rPr lang="en-US" dirty="0">
                <a:latin typeface="Arial" charset="0"/>
              </a:rPr>
              <a:t>7.1.3.3</a:t>
            </a:r>
            <a:r>
              <a:rPr lang="en-US" baseline="0" dirty="0">
                <a:latin typeface="Arial" charset="0"/>
              </a:rPr>
              <a:t> –</a:t>
            </a:r>
            <a:r>
              <a:rPr lang="en-US" b="0" dirty="0"/>
              <a:t> IPv4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1582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22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7.1.3 – IPv4 Unicast, Broadcast, and Multicast</a:t>
            </a:r>
          </a:p>
          <a:p>
            <a:r>
              <a:rPr lang="en-US" dirty="0">
                <a:latin typeface="Arial" charset="0"/>
              </a:rPr>
              <a:t>7.1.3.4</a:t>
            </a:r>
            <a:r>
              <a:rPr lang="en-US" baseline="0" dirty="0">
                <a:latin typeface="Arial" charset="0"/>
              </a:rPr>
              <a:t> –</a:t>
            </a:r>
            <a:r>
              <a:rPr lang="en-US" b="0" dirty="0"/>
              <a:t> Unicast Transmission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885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23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7.1.3 – IPv4 Unicast, Broadcast, and Multicast</a:t>
            </a:r>
          </a:p>
          <a:p>
            <a:r>
              <a:rPr lang="en-US" dirty="0">
                <a:latin typeface="Arial" charset="0"/>
              </a:rPr>
              <a:t>7.1.3.5</a:t>
            </a:r>
            <a:r>
              <a:rPr lang="en-US" baseline="0" dirty="0">
                <a:latin typeface="Arial" charset="0"/>
              </a:rPr>
              <a:t> –</a:t>
            </a:r>
            <a:r>
              <a:rPr lang="en-US" b="0" dirty="0"/>
              <a:t> Broadcast Transmission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2552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7.1.3 – IPv4 Unicast, Broadcast, and Multicast</a:t>
            </a:r>
          </a:p>
          <a:p>
            <a:r>
              <a:rPr lang="en-US" dirty="0">
                <a:latin typeface="Arial" charset="0"/>
              </a:rPr>
              <a:t>7.1.3.6</a:t>
            </a:r>
            <a:r>
              <a:rPr lang="en-US" baseline="0" dirty="0">
                <a:latin typeface="Arial" charset="0"/>
              </a:rPr>
              <a:t> –</a:t>
            </a:r>
            <a:r>
              <a:rPr lang="en-US" b="0" dirty="0"/>
              <a:t> Multicast Transmission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6356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7.1 – IPv4 Network Addresses</a:t>
            </a:r>
          </a:p>
          <a:p>
            <a:r>
              <a:rPr lang="en-US" dirty="0"/>
              <a:t>7.1.4 – Types of IPv4 Addresses</a:t>
            </a:r>
          </a:p>
          <a:p>
            <a:r>
              <a:rPr lang="en-US" dirty="0"/>
              <a:t>7.1.4.1 – Public and Private IPv4 Addresses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8472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7.1 – IPv4 Network Addresses</a:t>
            </a:r>
          </a:p>
          <a:p>
            <a:r>
              <a:rPr lang="en-US" dirty="0"/>
              <a:t>7.1.4 – Types of IPv4 Addresses</a:t>
            </a:r>
          </a:p>
          <a:p>
            <a:r>
              <a:rPr lang="en-US" dirty="0"/>
              <a:t>7.1.4.3 – Special User IPv4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4647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7.1 – IPv4 Network Addresses</a:t>
            </a:r>
          </a:p>
          <a:p>
            <a:r>
              <a:rPr lang="en-US" dirty="0"/>
              <a:t>7.1.4 – Types of IPv4 Addresses</a:t>
            </a:r>
          </a:p>
          <a:p>
            <a:r>
              <a:rPr lang="en-US" dirty="0"/>
              <a:t>7.1.4.4 – Legacy Classful Addressing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7755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7.1 – IPv4 Network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7.1.4 – Types of IPv4 Addresses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7.1.4.5 – Video Demonstration - Classful IPv4 Addressing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5871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7.1 – IPv4 Network Addresses</a:t>
            </a:r>
          </a:p>
          <a:p>
            <a:r>
              <a:rPr lang="en-US" dirty="0"/>
              <a:t>7.1.4 – Types of IPv4 Addresses</a:t>
            </a:r>
          </a:p>
          <a:p>
            <a:r>
              <a:rPr lang="en-US" dirty="0"/>
              <a:t>7.1.4.6 – Classless Addressing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3128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7.1 – IPv4 Network Addresses</a:t>
            </a:r>
          </a:p>
          <a:p>
            <a:r>
              <a:rPr lang="en-US" dirty="0"/>
              <a:t>7.1.4 – Types of IPv4 Addresses</a:t>
            </a:r>
          </a:p>
          <a:p>
            <a:r>
              <a:rPr lang="en-US" dirty="0"/>
              <a:t>7.1.4.7 – Assignment of IP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2644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7 – IP Addressing</a:t>
            </a:r>
          </a:p>
          <a:p>
            <a:pPr>
              <a:buFontTx/>
              <a:buNone/>
            </a:pPr>
            <a:r>
              <a:rPr lang="en-US" sz="1200" b="0" dirty="0"/>
              <a:t>7.2 – IPv6 Network Addresses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0214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7.2.1– IPv4 Issues</a:t>
            </a:r>
          </a:p>
          <a:p>
            <a:r>
              <a:rPr lang="en-US" dirty="0"/>
              <a:t>7.2.1.1 – The Need for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218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7.2.1– IPv4 Issues</a:t>
            </a:r>
          </a:p>
          <a:p>
            <a:r>
              <a:rPr lang="en-US" dirty="0"/>
              <a:t>7.2.1.2 – IPv4 and IPv6 Coexistence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4226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7.2.2– IPv6 Addressing</a:t>
            </a:r>
          </a:p>
          <a:p>
            <a:r>
              <a:rPr lang="en-US" dirty="0"/>
              <a:t>7.2.2.1 – IPv6 Address Representation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4502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7.2.2– IPv6 Addressing</a:t>
            </a:r>
          </a:p>
          <a:p>
            <a:r>
              <a:rPr lang="en-US" dirty="0"/>
              <a:t>7.2.2.1 – IPv6 Address Representation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5960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7.2.2– IPv6 Addressing</a:t>
            </a:r>
          </a:p>
          <a:p>
            <a:r>
              <a:rPr lang="en-US" dirty="0"/>
              <a:t>7.2.2.2 – Rule 1 – Omit Leading 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0481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7.2.2– IPv6 Addressing</a:t>
            </a:r>
          </a:p>
          <a:p>
            <a:r>
              <a:rPr lang="en-US" dirty="0"/>
              <a:t>7.2.2.3 – Rule 2 – Omit All 0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5236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7.2.2– IPv6 Addressing</a:t>
            </a:r>
          </a:p>
          <a:p>
            <a:r>
              <a:rPr lang="en-US" dirty="0"/>
              <a:t>7.2.2.3 – Rule 2 – Omit All 0 Segments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4674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7.2.3 – Types of IPv6 Addresses</a:t>
            </a:r>
          </a:p>
          <a:p>
            <a:r>
              <a:rPr lang="en-US" dirty="0"/>
              <a:t>7.2.3.1 –  IPv6 Address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185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7.2.3 – Types of IPv6 Addresses</a:t>
            </a:r>
          </a:p>
          <a:p>
            <a:r>
              <a:rPr lang="en-US" dirty="0"/>
              <a:t>7.2.3.2 –  IPv6 Prefix Length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722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7.2.3 – Types of IPv6 Addresses</a:t>
            </a:r>
          </a:p>
          <a:p>
            <a:r>
              <a:rPr lang="en-US" dirty="0"/>
              <a:t>7.2.3.3 –  IPv6 Unicast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399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7.2.3 – Types of IPv6 Addresses</a:t>
            </a:r>
          </a:p>
          <a:p>
            <a:r>
              <a:rPr lang="en-US" dirty="0"/>
              <a:t>7.2.3.4 –  IPv6 Link-Local Unicast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832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7.2.4 – IPv6 Unicast Addresses</a:t>
            </a:r>
          </a:p>
          <a:p>
            <a:r>
              <a:rPr lang="en-US" dirty="0"/>
              <a:t>7.2.4.1 –  Structure of an IPv6 Global Unicast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8367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7.2.4 – IPv6 Unicast Addresses</a:t>
            </a:r>
          </a:p>
          <a:p>
            <a:r>
              <a:rPr lang="en-US" dirty="0"/>
              <a:t>7.2.4.2</a:t>
            </a:r>
            <a:r>
              <a:rPr lang="en-US" baseline="0" dirty="0"/>
              <a:t> - </a:t>
            </a:r>
            <a:r>
              <a:rPr lang="en-US" dirty="0"/>
              <a:t> Static Configuration of a Global Unicast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9838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7.2.4 – IPv6 Unicast Addresses</a:t>
            </a:r>
          </a:p>
          <a:p>
            <a:r>
              <a:rPr lang="en-US" dirty="0"/>
              <a:t>7.2.4.2</a:t>
            </a:r>
            <a:r>
              <a:rPr lang="en-US" baseline="0" dirty="0"/>
              <a:t> - </a:t>
            </a:r>
            <a:r>
              <a:rPr lang="en-US" dirty="0"/>
              <a:t> Static Configuration of a Global Unicast Address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2173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7.2.4 – IPv6 Unicast Addresses</a:t>
            </a:r>
          </a:p>
          <a:p>
            <a:r>
              <a:rPr lang="en-US" dirty="0"/>
              <a:t>7.2.4.3</a:t>
            </a:r>
            <a:r>
              <a:rPr lang="en-US" baseline="0" dirty="0"/>
              <a:t> - </a:t>
            </a:r>
            <a:r>
              <a:rPr lang="en-US" dirty="0"/>
              <a:t>Dynamic Configuration - SLAAC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5469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7.2.4 – IPv6 Unicast Addresses</a:t>
            </a:r>
          </a:p>
          <a:p>
            <a:r>
              <a:rPr lang="en-US" dirty="0"/>
              <a:t>7.2.4.4</a:t>
            </a:r>
            <a:r>
              <a:rPr lang="en-US" baseline="0" dirty="0"/>
              <a:t> - </a:t>
            </a:r>
            <a:r>
              <a:rPr lang="en-US" dirty="0"/>
              <a:t>Dynamic Configuration – DHCPv6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3214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7.2.4 – IPv6 Unicast Addresses</a:t>
            </a:r>
          </a:p>
          <a:p>
            <a:r>
              <a:rPr lang="en-US" dirty="0"/>
              <a:t>7.2.4.5</a:t>
            </a:r>
            <a:r>
              <a:rPr lang="en-US" baseline="0" dirty="0"/>
              <a:t> - </a:t>
            </a:r>
            <a:r>
              <a:rPr lang="en-US" dirty="0"/>
              <a:t>EUI-64 Process and Randomly Generated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41977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7.2.4 – IPv6 Unicast Addresses</a:t>
            </a:r>
          </a:p>
          <a:p>
            <a:r>
              <a:rPr lang="en-US" dirty="0"/>
              <a:t>7.2.4.5</a:t>
            </a:r>
            <a:r>
              <a:rPr lang="en-US" baseline="0" dirty="0"/>
              <a:t> - </a:t>
            </a:r>
            <a:r>
              <a:rPr lang="en-US" dirty="0"/>
              <a:t>EUI-64 Process and Randomly Generated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4383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7.2.4 – IPv6 Unicast Addresses</a:t>
            </a:r>
          </a:p>
          <a:p>
            <a:r>
              <a:rPr lang="en-US" dirty="0"/>
              <a:t>7.2.4.6</a:t>
            </a:r>
            <a:r>
              <a:rPr lang="en-US" baseline="0" dirty="0"/>
              <a:t> - </a:t>
            </a:r>
            <a:r>
              <a:rPr lang="en-US" dirty="0"/>
              <a:t>Dynamic Link-Local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2935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7.2.4 – IPv6 Unicast Addresses</a:t>
            </a:r>
          </a:p>
          <a:p>
            <a:r>
              <a:rPr lang="en-US" dirty="0"/>
              <a:t>7.2.4.7</a:t>
            </a:r>
            <a:r>
              <a:rPr lang="en-US" baseline="0" dirty="0"/>
              <a:t> - </a:t>
            </a:r>
            <a:r>
              <a:rPr lang="en-US" dirty="0"/>
              <a:t>Static Link-Local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27017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7.2.4 – IPv6 Unicast Addresses</a:t>
            </a:r>
          </a:p>
          <a:p>
            <a:r>
              <a:rPr lang="en-US" dirty="0"/>
              <a:t>7.2.4.8</a:t>
            </a:r>
            <a:r>
              <a:rPr lang="en-US" baseline="0" dirty="0"/>
              <a:t> - </a:t>
            </a:r>
            <a:r>
              <a:rPr lang="en-US" dirty="0"/>
              <a:t>Verifying IPv6 Address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2448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7.2.4 – IPv6 Unicast Addresses</a:t>
            </a:r>
          </a:p>
          <a:p>
            <a:r>
              <a:rPr lang="en-US" dirty="0"/>
              <a:t>7.2.4.9</a:t>
            </a:r>
            <a:r>
              <a:rPr lang="en-US" baseline="0" dirty="0"/>
              <a:t> - </a:t>
            </a:r>
            <a:r>
              <a:rPr lang="en-US" dirty="0"/>
              <a:t>Packet Tracer – Configuring IPv6 Addressing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70054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7.2.5 – IPv6 Multicast Addresses</a:t>
            </a:r>
          </a:p>
          <a:p>
            <a:r>
              <a:rPr lang="en-US" dirty="0"/>
              <a:t>7.2.5.1</a:t>
            </a:r>
            <a:r>
              <a:rPr lang="en-US" baseline="0" dirty="0"/>
              <a:t> - </a:t>
            </a:r>
            <a:r>
              <a:rPr lang="en-US" dirty="0"/>
              <a:t>Assigned IPv6 Multicast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50510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7.2 – IPv6 Network Addresses</a:t>
            </a:r>
          </a:p>
          <a:p>
            <a:r>
              <a:rPr lang="en-US" dirty="0"/>
              <a:t>7.2.5 – IPv6 Multicast Addresses</a:t>
            </a:r>
          </a:p>
          <a:p>
            <a:r>
              <a:rPr lang="en-US" dirty="0"/>
              <a:t>7.2.5.2</a:t>
            </a:r>
            <a:r>
              <a:rPr lang="en-US" baseline="0" dirty="0"/>
              <a:t> - </a:t>
            </a:r>
            <a:r>
              <a:rPr lang="en-US" dirty="0"/>
              <a:t>Solicited-Node IPv6 Multicast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72540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7 – IP Addressing</a:t>
            </a:r>
          </a:p>
          <a:p>
            <a:pPr>
              <a:buFontTx/>
              <a:buNone/>
            </a:pPr>
            <a:r>
              <a:rPr lang="en-US" sz="1200" b="0" dirty="0"/>
              <a:t>7.3– Connectivity Verification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93261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7.3 – Connectivity Verification</a:t>
            </a:r>
          </a:p>
          <a:p>
            <a:r>
              <a:rPr lang="en-US" dirty="0"/>
              <a:t>7.3.1 – ICMP</a:t>
            </a:r>
          </a:p>
          <a:p>
            <a:r>
              <a:rPr lang="en-US" dirty="0"/>
              <a:t>7.3.1.1</a:t>
            </a:r>
            <a:r>
              <a:rPr lang="en-US" baseline="0" dirty="0"/>
              <a:t> - </a:t>
            </a:r>
            <a:r>
              <a:rPr lang="en-US" dirty="0"/>
              <a:t>ICMPv4 and ICMPv6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42274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7.3 – Connectivity Verification</a:t>
            </a:r>
          </a:p>
          <a:p>
            <a:r>
              <a:rPr lang="en-US" dirty="0"/>
              <a:t>7.3.1 – ICMP</a:t>
            </a:r>
          </a:p>
          <a:p>
            <a:r>
              <a:rPr lang="en-US" dirty="0"/>
              <a:t>7.3.1.2</a:t>
            </a:r>
            <a:r>
              <a:rPr lang="en-US" baseline="0" dirty="0"/>
              <a:t> - </a:t>
            </a:r>
            <a:r>
              <a:rPr lang="en-US" dirty="0"/>
              <a:t>ICMPv6 Router Solicitation and Router Advertisement Messages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24712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7.3 – Connectivity Verification</a:t>
            </a:r>
          </a:p>
          <a:p>
            <a:r>
              <a:rPr lang="en-US" dirty="0"/>
              <a:t>7.3.2 – Testing and Verification</a:t>
            </a:r>
          </a:p>
          <a:p>
            <a:r>
              <a:rPr lang="en-US" dirty="0"/>
              <a:t>7.3.2.1</a:t>
            </a:r>
            <a:r>
              <a:rPr lang="en-US" baseline="0" dirty="0"/>
              <a:t> - </a:t>
            </a:r>
            <a:r>
              <a:rPr lang="en-US" dirty="0"/>
              <a:t>Ping - Testing the Local Stack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31150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7.3 – Connectivity Verification</a:t>
            </a:r>
          </a:p>
          <a:p>
            <a:r>
              <a:rPr lang="en-US" dirty="0"/>
              <a:t>7.3.2 – Testing and Verification</a:t>
            </a:r>
          </a:p>
          <a:p>
            <a:r>
              <a:rPr lang="en-US" dirty="0"/>
              <a:t>7.3.2.2</a:t>
            </a:r>
            <a:r>
              <a:rPr lang="en-US" baseline="0" dirty="0"/>
              <a:t> - </a:t>
            </a:r>
            <a:r>
              <a:rPr lang="en-US" dirty="0"/>
              <a:t>Ping – Testing Connectivity to the Local 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68488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7.3 – Connectivity Verification</a:t>
            </a:r>
          </a:p>
          <a:p>
            <a:r>
              <a:rPr lang="en-US" dirty="0"/>
              <a:t>7.3.2 – Testing and Verification</a:t>
            </a:r>
          </a:p>
          <a:p>
            <a:r>
              <a:rPr lang="en-US" dirty="0"/>
              <a:t>7.3.2.3</a:t>
            </a:r>
            <a:r>
              <a:rPr lang="en-US" baseline="0" dirty="0"/>
              <a:t> - </a:t>
            </a:r>
            <a:r>
              <a:rPr lang="en-US" dirty="0"/>
              <a:t>Ping – Testing Connectivity to a Remote 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31482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7.3 – Connectivity Verification</a:t>
            </a:r>
          </a:p>
          <a:p>
            <a:r>
              <a:rPr lang="en-US" dirty="0"/>
              <a:t>7.3.2 – Testing and Verification</a:t>
            </a:r>
          </a:p>
          <a:p>
            <a:r>
              <a:rPr lang="en-US" dirty="0"/>
              <a:t>7.3.2.4</a:t>
            </a:r>
            <a:r>
              <a:rPr lang="en-US" baseline="0" dirty="0"/>
              <a:t> - </a:t>
            </a:r>
            <a:r>
              <a:rPr lang="en-US" dirty="0"/>
              <a:t>Traceroute – Testing the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40514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7.3 – Connectivity Verification</a:t>
            </a:r>
          </a:p>
          <a:p>
            <a:r>
              <a:rPr lang="en-US" dirty="0"/>
              <a:t>7.3.2 – Testing and Verification</a:t>
            </a:r>
          </a:p>
          <a:p>
            <a:r>
              <a:rPr lang="en-US" dirty="0"/>
              <a:t>7.3.2.5</a:t>
            </a:r>
            <a:r>
              <a:rPr lang="en-US" baseline="0" dirty="0"/>
              <a:t> - </a:t>
            </a:r>
            <a:r>
              <a:rPr lang="en-US" dirty="0"/>
              <a:t>Packet Tracer – Verifying IPv4 and IPv6 Addressing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44978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7.3 – Connectivity Verification</a:t>
            </a:r>
          </a:p>
          <a:p>
            <a:r>
              <a:rPr lang="en-US" dirty="0"/>
              <a:t>7.3.2 – Testing and Verification</a:t>
            </a:r>
          </a:p>
          <a:p>
            <a:r>
              <a:rPr lang="en-US" dirty="0"/>
              <a:t>7.3.2.6</a:t>
            </a:r>
            <a:r>
              <a:rPr lang="en-US" baseline="0" dirty="0"/>
              <a:t> - </a:t>
            </a:r>
            <a:r>
              <a:rPr lang="en-US" dirty="0"/>
              <a:t>Packet Tracer – Pinging and Tracing to Test the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74097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7.3 – Connectivity Verification</a:t>
            </a:r>
          </a:p>
          <a:p>
            <a:r>
              <a:rPr lang="en-US" dirty="0"/>
              <a:t>7.3.2 – Testing and Verification</a:t>
            </a:r>
          </a:p>
          <a:p>
            <a:r>
              <a:rPr lang="en-US" dirty="0"/>
              <a:t>7.3.2.7</a:t>
            </a:r>
            <a:r>
              <a:rPr lang="en-US" baseline="0" dirty="0"/>
              <a:t> - </a:t>
            </a:r>
            <a:r>
              <a:rPr lang="en-US" dirty="0"/>
              <a:t>Lab – Testing Network Connectivity with Ping and Traceroute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5526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7.3 – Connectivity Verification</a:t>
            </a:r>
          </a:p>
          <a:p>
            <a:r>
              <a:rPr lang="en-US" dirty="0"/>
              <a:t>7.3.2 – Testing and Verification</a:t>
            </a:r>
          </a:p>
          <a:p>
            <a:r>
              <a:rPr lang="en-US" dirty="0"/>
              <a:t>7.3.2.8</a:t>
            </a:r>
            <a:r>
              <a:rPr lang="en-US" baseline="0" dirty="0"/>
              <a:t> - </a:t>
            </a:r>
            <a:r>
              <a:rPr lang="en-US" dirty="0"/>
              <a:t>Lab – Mapping the Internet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22400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7.3 – Connectivity Verification</a:t>
            </a:r>
          </a:p>
          <a:p>
            <a:r>
              <a:rPr lang="en-US" dirty="0"/>
              <a:t>7.3.2 – Testing and Verification</a:t>
            </a:r>
          </a:p>
          <a:p>
            <a:r>
              <a:rPr lang="en-US" dirty="0"/>
              <a:t>7.3.2.9</a:t>
            </a:r>
            <a:r>
              <a:rPr lang="en-US" baseline="0" dirty="0"/>
              <a:t> - </a:t>
            </a:r>
            <a:r>
              <a:rPr lang="en-US" dirty="0"/>
              <a:t>Packet Tracer – Troubleshooting IPv4 and IPv6 Addressing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72419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7 – IP Addressing</a:t>
            </a:r>
          </a:p>
          <a:p>
            <a:r>
              <a:rPr lang="en-US" dirty="0"/>
              <a:t>7.4 – Summary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1006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7.4 – Summary</a:t>
            </a:r>
          </a:p>
          <a:p>
            <a:r>
              <a:rPr lang="en-US" dirty="0"/>
              <a:t>7.4.1 – Conclusion</a:t>
            </a:r>
          </a:p>
          <a:p>
            <a:r>
              <a:rPr lang="en-US" dirty="0"/>
              <a:t>7.4.1.2</a:t>
            </a:r>
            <a:r>
              <a:rPr lang="en-US" baseline="0" dirty="0"/>
              <a:t> - </a:t>
            </a:r>
            <a:r>
              <a:rPr lang="sv-SE" dirty="0"/>
              <a:t>Packet Tracer – Skills Integration Challenge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76377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7.4 – Summary</a:t>
            </a:r>
          </a:p>
          <a:p>
            <a:r>
              <a:rPr lang="en-US" dirty="0"/>
              <a:t>7.4.1 – Conclusion</a:t>
            </a:r>
          </a:p>
          <a:p>
            <a:r>
              <a:rPr lang="en-US" dirty="0"/>
              <a:t>7.4.1.3</a:t>
            </a:r>
            <a:r>
              <a:rPr lang="en-US" baseline="0" dirty="0"/>
              <a:t> – </a:t>
            </a:r>
            <a:r>
              <a:rPr lang="en-US" dirty="0"/>
              <a:t>Chapter 7: IP Addressing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781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7: IP Addressing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/>
              <a:t>CCNA Routing and Switching</a:t>
            </a:r>
          </a:p>
          <a:p>
            <a:r>
              <a:rPr lang="en-US" dirty="0"/>
              <a:t>Introduction to Networks v6.0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93801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>
          <a:xfrm>
            <a:off x="145358" y="615463"/>
            <a:ext cx="8853286" cy="4000500"/>
          </a:xfrm>
        </p:spPr>
        <p:txBody>
          <a:bodyPr/>
          <a:lstStyle/>
          <a:p>
            <a:r>
              <a:rPr lang="en-CA" dirty="0"/>
              <a:t>7.1 </a:t>
            </a:r>
            <a:r>
              <a:rPr lang="en-US" dirty="0"/>
              <a:t>IPv4 Network Addresses </a:t>
            </a:r>
          </a:p>
          <a:p>
            <a:r>
              <a:rPr lang="en-US" sz="1400" dirty="0"/>
              <a:t>Explain the use of IPv4 addresses to provide connectivity in small to medium-sized business networks</a:t>
            </a:r>
            <a:endParaRPr lang="en-US" sz="850" dirty="0"/>
          </a:p>
          <a:p>
            <a:pPr marL="542131" lvl="2" indent="-214313">
              <a:buFont typeface="Arial" panose="020B0604020202020204" pitchFamily="34" charset="0"/>
              <a:buChar char="•"/>
            </a:pPr>
            <a:r>
              <a:rPr lang="en-US" sz="1300" dirty="0"/>
              <a:t>Convert between binary and decimal numbering systems.</a:t>
            </a:r>
          </a:p>
          <a:p>
            <a:pPr marL="542131" lvl="2" indent="-214313">
              <a:buFont typeface="Arial" panose="020B0604020202020204" pitchFamily="34" charset="0"/>
              <a:buChar char="•"/>
            </a:pPr>
            <a:r>
              <a:rPr lang="en-US" sz="1300" dirty="0"/>
              <a:t>Describe the structure of an IPv4 address including the network portion, the host portion, and the subnet mask.</a:t>
            </a:r>
          </a:p>
          <a:p>
            <a:pPr marL="542131" lvl="2" indent="-214313">
              <a:buFont typeface="Arial" panose="020B0604020202020204" pitchFamily="34" charset="0"/>
              <a:buChar char="•"/>
            </a:pPr>
            <a:r>
              <a:rPr lang="en-US" sz="1300" dirty="0"/>
              <a:t>Compare the characteristics and uses of the unicast, broadcast and multicast IPv4 addresses.</a:t>
            </a:r>
          </a:p>
          <a:p>
            <a:pPr marL="542131" lvl="2" indent="-214313">
              <a:buFont typeface="Arial" panose="020B0604020202020204" pitchFamily="34" charset="0"/>
              <a:buChar char="•"/>
            </a:pPr>
            <a:r>
              <a:rPr lang="en-US" sz="1300" dirty="0"/>
              <a:t>Explain public, private, and reserved IPv4 addresses.</a:t>
            </a:r>
          </a:p>
          <a:p>
            <a:pPr marL="351631" indent="-285750"/>
            <a:r>
              <a:rPr lang="en-US" sz="1600" dirty="0"/>
              <a:t>7.2 IPv6 Network Addresses</a:t>
            </a:r>
          </a:p>
          <a:p>
            <a:pPr marL="351631" indent="-285750"/>
            <a:r>
              <a:rPr lang="en-US" sz="1400" dirty="0"/>
              <a:t>Configure IPv6 addresses to provide connectivity in small to medium-sized business networks.</a:t>
            </a:r>
          </a:p>
          <a:p>
            <a:pPr marL="542131" lvl="2" indent="-214313">
              <a:buFont typeface="Arial" panose="020B0604020202020204" pitchFamily="34" charset="0"/>
              <a:buChar char="•"/>
            </a:pPr>
            <a:r>
              <a:rPr lang="en-US" sz="1300" dirty="0"/>
              <a:t>Explain the need for IPv6 addressing.</a:t>
            </a:r>
          </a:p>
          <a:p>
            <a:pPr marL="542131" lvl="2" indent="-214313">
              <a:buFont typeface="Arial" panose="020B0604020202020204" pitchFamily="34" charset="0"/>
              <a:buChar char="•"/>
            </a:pPr>
            <a:r>
              <a:rPr lang="en-US" sz="1300" dirty="0"/>
              <a:t>Describe the representation of an IPv6 address.</a:t>
            </a:r>
          </a:p>
          <a:p>
            <a:pPr marL="542131" lvl="2" indent="-214313">
              <a:buFont typeface="Arial" panose="020B0604020202020204" pitchFamily="34" charset="0"/>
              <a:buChar char="•"/>
            </a:pPr>
            <a:r>
              <a:rPr lang="en-US" sz="1300" dirty="0"/>
              <a:t>Compare types of IPv6 network addresses.</a:t>
            </a:r>
          </a:p>
          <a:p>
            <a:pPr marL="542131" lvl="2" indent="-214313">
              <a:buFont typeface="Arial" panose="020B0604020202020204" pitchFamily="34" charset="0"/>
              <a:buChar char="•"/>
            </a:pPr>
            <a:r>
              <a:rPr lang="en-US" sz="1300" dirty="0"/>
              <a:t>Configure global unicast addresses.</a:t>
            </a:r>
          </a:p>
          <a:p>
            <a:pPr marL="542131" lvl="2" indent="-214313">
              <a:buFont typeface="Arial" panose="020B0604020202020204" pitchFamily="34" charset="0"/>
              <a:buChar char="•"/>
            </a:pPr>
            <a:r>
              <a:rPr lang="en-US" sz="1300" dirty="0"/>
              <a:t>Describe multicast addresses.</a:t>
            </a:r>
          </a:p>
        </p:txBody>
      </p:sp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7 - Sections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175886867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CA" sz="1600" dirty="0"/>
              <a:t>7.3 </a:t>
            </a:r>
            <a:r>
              <a:rPr lang="en-US" sz="1600" dirty="0"/>
              <a:t>Connectivity Verification</a:t>
            </a:r>
          </a:p>
          <a:p>
            <a:r>
              <a:rPr lang="en-US" sz="1600" dirty="0"/>
              <a:t>Use common testing utilities to verify and test network connectivity.</a:t>
            </a:r>
          </a:p>
          <a:p>
            <a:pPr lvl="1"/>
            <a:r>
              <a:rPr lang="en-US" dirty="0"/>
              <a:t>Explain how ICMP is used to test network connectivity.</a:t>
            </a:r>
          </a:p>
          <a:p>
            <a:pPr lvl="1"/>
            <a:r>
              <a:rPr lang="en-US" dirty="0"/>
              <a:t>Use ping and traceroute utilities to test network connectivity.</a:t>
            </a:r>
          </a:p>
        </p:txBody>
      </p:sp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7 - Sections &amp; Objectives (Cont.)</a:t>
            </a:r>
          </a:p>
        </p:txBody>
      </p:sp>
    </p:spTree>
    <p:extLst>
      <p:ext uri="{BB962C8B-B14F-4D97-AF65-F5344CB8AC3E}">
        <p14:creationId xmlns:p14="http://schemas.microsoft.com/office/powerpoint/2010/main" val="94231458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/>
              <a:t>7.1 IPv4 Network Addresses</a:t>
            </a:r>
          </a:p>
        </p:txBody>
      </p:sp>
    </p:spTree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Binary numbering system consists of the numbers 0 and 1 called bits</a:t>
            </a:r>
          </a:p>
          <a:p>
            <a:pPr lvl="1"/>
            <a:r>
              <a:rPr lang="en-US" altLang="ja-JP" dirty="0"/>
              <a:t>IPv4 addresses are expressed in 32 binary bits divided into 4 8-bit octets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Binary and Decimal Conversion</a:t>
            </a:r>
            <a:br>
              <a:rPr lang="en-US" altLang="en-US" dirty="0"/>
            </a:br>
            <a:r>
              <a:rPr lang="en-US" altLang="en-US" dirty="0"/>
              <a:t>IPv4 Addresses</a:t>
            </a:r>
          </a:p>
        </p:txBody>
      </p:sp>
      <p:pic>
        <p:nvPicPr>
          <p:cNvPr id="4" name="Picture 3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14468" y="1734207"/>
            <a:ext cx="4986332" cy="305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IPv4 addresses are commonly expressed in dotted decimal notation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Binary and Decimal Conversion</a:t>
            </a:r>
            <a:br>
              <a:rPr lang="en-US" altLang="en-US" dirty="0"/>
            </a:br>
            <a:r>
              <a:rPr lang="en-US" altLang="en-US" dirty="0"/>
              <a:t>IPv4 Addresses (Cont.)</a:t>
            </a:r>
          </a:p>
        </p:txBody>
      </p:sp>
      <p:pic>
        <p:nvPicPr>
          <p:cNvPr id="3" name="Picture 2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3273" y="1439918"/>
            <a:ext cx="5454869" cy="315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9768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025" y="1103586"/>
            <a:ext cx="4165175" cy="3850677"/>
          </a:xfrm>
        </p:spPr>
        <p:txBody>
          <a:bodyPr/>
          <a:lstStyle/>
          <a:p>
            <a:r>
              <a:rPr lang="en-US" dirty="0"/>
              <a:t>This  video  will cover  the process  of  </a:t>
            </a:r>
            <a:r>
              <a:rPr lang="en-US" dirty="0" err="1"/>
              <a:t>ANDing</a:t>
            </a:r>
            <a:r>
              <a:rPr lang="en-US" dirty="0"/>
              <a:t>  as it relates  to discovering  the network  address,  the host addresses,  and  the broadcast  address  in an IPv4  network.</a:t>
            </a: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14963"/>
            <a:ext cx="9144000" cy="757551"/>
          </a:xfrm>
        </p:spPr>
        <p:txBody>
          <a:bodyPr/>
          <a:lstStyle/>
          <a:p>
            <a:r>
              <a:rPr lang="en-US" altLang="en-US" sz="1600" dirty="0"/>
              <a:t>Binary and Decimal Conversation</a:t>
            </a:r>
            <a:br>
              <a:rPr lang="en-US" altLang="en-US" dirty="0"/>
            </a:br>
            <a:r>
              <a:rPr lang="en-US" altLang="en-US" dirty="0"/>
              <a:t>Video Demonstration – Converting Between Binary and Decimal Numbering Systems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721" y="1782753"/>
            <a:ext cx="4542949" cy="2485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687556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68165" y="798944"/>
            <a:ext cx="3620173" cy="4235511"/>
          </a:xfrm>
        </p:spPr>
        <p:txBody>
          <a:bodyPr/>
          <a:lstStyle/>
          <a:p>
            <a:r>
              <a:rPr lang="en-US" sz="1400" dirty="0"/>
              <a:t>The first row identifies the number base or radix. Decimal is 10. Binary is based on 2, therefore radix will be 2</a:t>
            </a:r>
          </a:p>
          <a:p>
            <a:r>
              <a:rPr lang="en-US" sz="1400" dirty="0"/>
              <a:t>The 2nd row considers the position of the number starting with 0. These numbers also represent the exponential value that will be used to calculate the positional value (4th row).</a:t>
            </a:r>
          </a:p>
          <a:p>
            <a:r>
              <a:rPr lang="en-US" sz="1400" dirty="0"/>
              <a:t>The 3rd row calculates the positional value by taking the radix and raising it by the exponential value of its position. Note: n^0 is always = 1.</a:t>
            </a:r>
          </a:p>
          <a:p>
            <a:r>
              <a:rPr lang="en-US" sz="1400" dirty="0"/>
              <a:t>The positional value is listed in the fourth row.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Binary and Decimal Conversion</a:t>
            </a:r>
            <a:br>
              <a:rPr lang="en-US" altLang="en-US" dirty="0"/>
            </a:br>
            <a:r>
              <a:rPr lang="en-US" altLang="en-US" dirty="0"/>
              <a:t>Positional Notation</a:t>
            </a:r>
          </a:p>
        </p:txBody>
      </p:sp>
      <p:pic>
        <p:nvPicPr>
          <p:cNvPr id="4" name="Picture 3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6502" y="273796"/>
            <a:ext cx="4858229" cy="2287945"/>
          </a:xfrm>
          <a:prstGeom prst="rect">
            <a:avLst/>
          </a:prstGeom>
        </p:spPr>
      </p:pic>
      <p:pic>
        <p:nvPicPr>
          <p:cNvPr id="7" name="Picture 6" descr="Introduction to Networks - Mozilla Firefox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53511" y="3270554"/>
            <a:ext cx="4556633" cy="12027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76513" y="2870595"/>
            <a:ext cx="34403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Applying decimal positional notation</a:t>
            </a:r>
          </a:p>
        </p:txBody>
      </p:sp>
    </p:spTree>
    <p:extLst>
      <p:ext uri="{BB962C8B-B14F-4D97-AF65-F5344CB8AC3E}">
        <p14:creationId xmlns:p14="http://schemas.microsoft.com/office/powerpoint/2010/main" val="132057373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Introduction to Networks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52282" y="872131"/>
            <a:ext cx="4694945" cy="2136358"/>
          </a:xfrm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Binary and Decimal Conversion</a:t>
            </a:r>
            <a:br>
              <a:rPr lang="en-US" altLang="en-US" dirty="0"/>
            </a:br>
            <a:r>
              <a:rPr lang="en-US" altLang="en-US" dirty="0"/>
              <a:t>Positional Notation (Cont.)</a:t>
            </a:r>
          </a:p>
        </p:txBody>
      </p:sp>
      <p:sp>
        <p:nvSpPr>
          <p:cNvPr id="5" name="Rectangle 4"/>
          <p:cNvSpPr/>
          <p:nvPr/>
        </p:nvSpPr>
        <p:spPr>
          <a:xfrm>
            <a:off x="345456" y="3193155"/>
            <a:ext cx="40639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Applying binary positional notation.</a:t>
            </a:r>
          </a:p>
        </p:txBody>
      </p:sp>
      <p:pic>
        <p:nvPicPr>
          <p:cNvPr id="6" name="Picture 5" descr="Introduction to Networks - Mozilla Firefox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3969" y="3562487"/>
            <a:ext cx="5025358" cy="139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082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301330" y="798944"/>
            <a:ext cx="8771649" cy="1651293"/>
          </a:xfrm>
        </p:spPr>
        <p:txBody>
          <a:bodyPr/>
          <a:lstStyle/>
          <a:p>
            <a:r>
              <a:rPr lang="en-US" sz="1400" dirty="0"/>
              <a:t>To convert a binary IPv4  address to decimal enter the 8-bit binary number of each octet under the positional value of row 1 and then calculate to produce the decimal. 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Binary and Decimal Conversion</a:t>
            </a:r>
            <a:br>
              <a:rPr lang="en-US" altLang="en-US" dirty="0"/>
            </a:br>
            <a:r>
              <a:rPr lang="en-US" dirty="0"/>
              <a:t>Binary to Decimal Conversion</a:t>
            </a:r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09204" y="1556495"/>
            <a:ext cx="5584054" cy="310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0499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301331" y="798944"/>
            <a:ext cx="3278210" cy="3996080"/>
          </a:xfrm>
        </p:spPr>
        <p:txBody>
          <a:bodyPr/>
          <a:lstStyle/>
          <a:p>
            <a:r>
              <a:rPr lang="en-US" sz="1400" dirty="0"/>
              <a:t>To convert a decimal IPv4address to binary use the positional chart and check first if the number is greater than the 128 bit. If no a 0 is placed in this position. If yes then a 1 is placed in this position. </a:t>
            </a:r>
          </a:p>
          <a:p>
            <a:r>
              <a:rPr lang="en-US" sz="1400" dirty="0"/>
              <a:t>128 is subtracted from the original number and the remainder is then checked against the next position (64) If it is less than 64 a 0 is placed in this position. If it is greater, a 1 is placed in this position and 64 is subtracted. </a:t>
            </a:r>
          </a:p>
          <a:p>
            <a:r>
              <a:rPr lang="en-US" sz="1400" dirty="0"/>
              <a:t>The process repeats until all positional values have been entered. </a:t>
            </a:r>
          </a:p>
          <a:p>
            <a:endParaRPr lang="en-US" sz="1400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Binary and Decimal Conversion</a:t>
            </a:r>
            <a:br>
              <a:rPr lang="en-US" altLang="en-US" dirty="0"/>
            </a:br>
            <a:r>
              <a:rPr lang="en-US" dirty="0"/>
              <a:t>Decimal to Binary Conversion</a:t>
            </a:r>
          </a:p>
        </p:txBody>
      </p:sp>
      <p:pic>
        <p:nvPicPr>
          <p:cNvPr id="3" name="Picture 2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8836" y="862007"/>
            <a:ext cx="4811696" cy="312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442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Binary and Decimal Conversion</a:t>
            </a:r>
            <a:br>
              <a:rPr lang="en-US" altLang="en-US" dirty="0"/>
            </a:br>
            <a:r>
              <a:rPr lang="en-US" dirty="0"/>
              <a:t>Decimal to Binary Conversion Examples</a:t>
            </a:r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507" y="798944"/>
            <a:ext cx="3092833" cy="1910802"/>
          </a:xfrm>
          <a:prstGeom prst="rect">
            <a:avLst/>
          </a:prstGeom>
        </p:spPr>
      </p:pic>
      <p:pic>
        <p:nvPicPr>
          <p:cNvPr id="4" name="Picture 3" descr="Introduction to Networks - Mozilla Firefox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9336" y="797816"/>
            <a:ext cx="3088889" cy="1913058"/>
          </a:xfrm>
          <a:prstGeom prst="rect">
            <a:avLst/>
          </a:prstGeom>
        </p:spPr>
      </p:pic>
      <p:pic>
        <p:nvPicPr>
          <p:cNvPr id="5" name="Picture 4" descr="Introduction to Networks - Mozilla Firefox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507" y="2834234"/>
            <a:ext cx="3099916" cy="1960790"/>
          </a:xfrm>
          <a:prstGeom prst="rect">
            <a:avLst/>
          </a:prstGeom>
        </p:spPr>
      </p:pic>
      <p:pic>
        <p:nvPicPr>
          <p:cNvPr id="6" name="Picture 5" descr="Introduction to Networks - Mozilla Firefox"/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9336" y="2834234"/>
            <a:ext cx="3170883" cy="186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2570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966" y="798944"/>
            <a:ext cx="3434575" cy="3996080"/>
          </a:xfrm>
        </p:spPr>
        <p:txBody>
          <a:bodyPr/>
          <a:lstStyle/>
          <a:p>
            <a:r>
              <a:rPr lang="en-US" sz="1600" dirty="0"/>
              <a:t>An IPv4 address is hierarchical.</a:t>
            </a:r>
          </a:p>
          <a:p>
            <a:pPr lvl="1"/>
            <a:r>
              <a:rPr lang="en-US" dirty="0"/>
              <a:t>Composed of a Network portion and Host portion.</a:t>
            </a:r>
          </a:p>
          <a:p>
            <a:r>
              <a:rPr lang="en-US" sz="1600" dirty="0"/>
              <a:t>All devices on the same network must have the identical network portion.</a:t>
            </a:r>
          </a:p>
          <a:p>
            <a:r>
              <a:rPr lang="en-US" sz="1600" dirty="0"/>
              <a:t>The Subnet Mask helps devices identify the network portion and host portion.</a:t>
            </a:r>
          </a:p>
          <a:p>
            <a:endParaRPr lang="en-US" sz="1400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Address Structure</a:t>
            </a:r>
            <a:br>
              <a:rPr lang="en-US" altLang="en-US" dirty="0"/>
            </a:br>
            <a:r>
              <a:rPr lang="en-US" dirty="0"/>
              <a:t>Network and Host Portions</a:t>
            </a:r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79541" y="1185464"/>
            <a:ext cx="4883283" cy="178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8517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79027" y="798944"/>
            <a:ext cx="4092447" cy="4007232"/>
          </a:xfrm>
        </p:spPr>
        <p:txBody>
          <a:bodyPr/>
          <a:lstStyle/>
          <a:p>
            <a:r>
              <a:rPr lang="en-US" sz="1800" dirty="0"/>
              <a:t>Three IPv4 addresses must be configured on a host:</a:t>
            </a:r>
          </a:p>
          <a:p>
            <a:pPr lvl="1"/>
            <a:r>
              <a:rPr lang="en-US" sz="1600" dirty="0"/>
              <a:t>Unique IPv4 address of the host.</a:t>
            </a:r>
          </a:p>
          <a:p>
            <a:pPr lvl="1"/>
            <a:r>
              <a:rPr lang="en-US" sz="1600" dirty="0"/>
              <a:t>Subnet mask - identifies the network/host portion of the IPv4 address.</a:t>
            </a:r>
          </a:p>
          <a:p>
            <a:pPr lvl="1"/>
            <a:r>
              <a:rPr lang="en-US" sz="1600" dirty="0"/>
              <a:t>Default gateway -IP address of the local router interface.</a:t>
            </a:r>
          </a:p>
          <a:p>
            <a:pPr lvl="1"/>
            <a:endParaRPr lang="en-US" sz="1300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Address Structure</a:t>
            </a:r>
            <a:br>
              <a:rPr lang="en-US" altLang="en-US" dirty="0"/>
            </a:br>
            <a:r>
              <a:rPr lang="en-US" dirty="0"/>
              <a:t>The Subnet Mask</a:t>
            </a:r>
          </a:p>
        </p:txBody>
      </p:sp>
      <p:pic>
        <p:nvPicPr>
          <p:cNvPr id="5" name="Picture 4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5080" y="696659"/>
            <a:ext cx="3345316" cy="394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05438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Address Structure</a:t>
            </a:r>
            <a:br>
              <a:rPr lang="en-US" altLang="en-US" dirty="0"/>
            </a:br>
            <a:r>
              <a:rPr lang="en-US" dirty="0"/>
              <a:t>The Subnet Mask (Cont.)</a:t>
            </a:r>
          </a:p>
        </p:txBody>
      </p:sp>
      <p:pic>
        <p:nvPicPr>
          <p:cNvPr id="4" name="Picture 3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98669" y="1990202"/>
            <a:ext cx="5930570" cy="272879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5358" y="817302"/>
            <a:ext cx="8184603" cy="3107927"/>
          </a:xfrm>
        </p:spPr>
        <p:txBody>
          <a:bodyPr/>
          <a:lstStyle/>
          <a:p>
            <a:r>
              <a:rPr lang="en-US" sz="1600" dirty="0"/>
              <a:t>The IPv4 address is compared to the subnet mask bit by bit, from left to right. </a:t>
            </a:r>
          </a:p>
          <a:p>
            <a:r>
              <a:rPr lang="en-US" sz="1600" dirty="0"/>
              <a:t>A 1 in the subnet mask indicates that the corresponding bit in the IPv4 address is a network bit.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24856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Address Structure</a:t>
            </a:r>
            <a:br>
              <a:rPr lang="en-US" altLang="en-US" dirty="0"/>
            </a:br>
            <a:r>
              <a:rPr lang="en-US" dirty="0"/>
              <a:t>Logical AND</a:t>
            </a:r>
          </a:p>
        </p:txBody>
      </p:sp>
      <p:pic>
        <p:nvPicPr>
          <p:cNvPr id="5" name="Content Placeholder 4" descr="Introduction to Networks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2153" y="798944"/>
            <a:ext cx="4559618" cy="2698967"/>
          </a:xfrm>
        </p:spPr>
      </p:pic>
      <p:pic>
        <p:nvPicPr>
          <p:cNvPr id="3" name="Picture 2" descr="Introduction to Networks - Mozilla Firefox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6279" y="3075707"/>
            <a:ext cx="1707480" cy="1330037"/>
          </a:xfrm>
          <a:prstGeom prst="rect">
            <a:avLst/>
          </a:prstGeom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54335" y="798944"/>
            <a:ext cx="3907818" cy="3043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A logical AND is one of three basic binary operations used in digital logic.</a:t>
            </a:r>
          </a:p>
          <a:p>
            <a:r>
              <a:rPr lang="en-US" sz="1800" dirty="0"/>
              <a:t>Used to determine the Network Address</a:t>
            </a:r>
          </a:p>
          <a:p>
            <a:r>
              <a:rPr lang="en-US" sz="1800" dirty="0"/>
              <a:t>The Logical AND of two bits yields the following results:</a:t>
            </a:r>
          </a:p>
          <a:p>
            <a:pPr marL="142875" lvl="1" indent="0">
              <a:buNone/>
            </a:pPr>
            <a:endParaRPr lang="en-US" altLang="en-US" sz="1800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sz="1650" b="1" dirty="0"/>
          </a:p>
        </p:txBody>
      </p:sp>
    </p:spTree>
    <p:extLst>
      <p:ext uri="{BB962C8B-B14F-4D97-AF65-F5344CB8AC3E}">
        <p14:creationId xmlns:p14="http://schemas.microsoft.com/office/powerpoint/2010/main" val="2785873989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Address Structure</a:t>
            </a:r>
            <a:br>
              <a:rPr lang="en-US" altLang="en-US" dirty="0"/>
            </a:br>
            <a:r>
              <a:rPr lang="en-US" dirty="0"/>
              <a:t>The Prefix Length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617029" y="917699"/>
            <a:ext cx="3301340" cy="3773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The Prefix Length:</a:t>
            </a:r>
          </a:p>
          <a:p>
            <a:pPr lvl="1"/>
            <a:r>
              <a:rPr lang="en-US" sz="1600" dirty="0"/>
              <a:t>Shorthand method of expressing the subnet mask.</a:t>
            </a:r>
          </a:p>
          <a:p>
            <a:pPr lvl="1"/>
            <a:r>
              <a:rPr lang="en-US" sz="1600" dirty="0"/>
              <a:t>Equals the number of bits in the subnet mask set to 1.</a:t>
            </a:r>
          </a:p>
          <a:p>
            <a:pPr lvl="1"/>
            <a:r>
              <a:rPr lang="en-US" sz="1600" dirty="0"/>
              <a:t>Written in slash notation, / followed by the number of network bits.</a:t>
            </a:r>
          </a:p>
          <a:p>
            <a:endParaRPr lang="en-US" sz="1800" dirty="0"/>
          </a:p>
          <a:p>
            <a:pPr marL="142875" lvl="1" indent="0">
              <a:buNone/>
            </a:pPr>
            <a:endParaRPr lang="en-US" altLang="en-US" sz="1800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sz="1650" b="1" dirty="0"/>
          </a:p>
        </p:txBody>
      </p:sp>
      <p:pic>
        <p:nvPicPr>
          <p:cNvPr id="4" name="Content Placeholder 3" descr="Introduction to Networks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006" y="917699"/>
            <a:ext cx="5357121" cy="2739901"/>
          </a:xfrm>
        </p:spPr>
      </p:pic>
    </p:spTree>
    <p:extLst>
      <p:ext uri="{BB962C8B-B14F-4D97-AF65-F5344CB8AC3E}">
        <p14:creationId xmlns:p14="http://schemas.microsoft.com/office/powerpoint/2010/main" val="359815012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Address Structure</a:t>
            </a:r>
            <a:br>
              <a:rPr lang="en-US" altLang="en-US" dirty="0"/>
            </a:br>
            <a:r>
              <a:rPr lang="en-US" dirty="0"/>
              <a:t>Network, Host, and Broadcast Addresses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453245" y="917699"/>
            <a:ext cx="4524500" cy="3773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Types of Addresses in Network 192.168.10.0/24</a:t>
            </a:r>
          </a:p>
          <a:p>
            <a:pPr lvl="1"/>
            <a:r>
              <a:rPr lang="en-US" sz="1700" dirty="0"/>
              <a:t>Network Address - host portion is all 0s (.00000000)</a:t>
            </a:r>
          </a:p>
          <a:p>
            <a:pPr lvl="1"/>
            <a:r>
              <a:rPr lang="en-US" sz="1700" dirty="0"/>
              <a:t>First Host address - host portion is all 0s and ends with a 1 (.00000001)</a:t>
            </a:r>
          </a:p>
          <a:p>
            <a:pPr lvl="1"/>
            <a:r>
              <a:rPr lang="en-US" sz="1700" dirty="0"/>
              <a:t>Last Host address - host portion is all 1s and ends with a 0 (.11111110)</a:t>
            </a:r>
          </a:p>
          <a:p>
            <a:pPr lvl="1"/>
            <a:r>
              <a:rPr lang="en-US" sz="1700" dirty="0"/>
              <a:t>Broadcast Address - host portion is all 1s (.11111111)</a:t>
            </a:r>
          </a:p>
          <a:p>
            <a:pPr marL="142875" lvl="1" indent="0">
              <a:buNone/>
            </a:pPr>
            <a:endParaRPr lang="en-US" altLang="en-US" sz="1800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sz="1650" b="1" dirty="0"/>
          </a:p>
        </p:txBody>
      </p:sp>
      <p:pic>
        <p:nvPicPr>
          <p:cNvPr id="3" name="Content Placeholder 2" descr="Introduction to Networks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8134" y="798944"/>
            <a:ext cx="3716978" cy="3749728"/>
          </a:xfrm>
        </p:spPr>
      </p:pic>
    </p:spTree>
    <p:extLst>
      <p:ext uri="{BB962C8B-B14F-4D97-AF65-F5344CB8AC3E}">
        <p14:creationId xmlns:p14="http://schemas.microsoft.com/office/powerpoint/2010/main" val="310865780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Unicast, Broadcast, and Multicast</a:t>
            </a:r>
            <a:br>
              <a:rPr lang="en-US" altLang="en-US" dirty="0"/>
            </a:br>
            <a:r>
              <a:rPr lang="en-US" altLang="en-US" dirty="0"/>
              <a:t>S</a:t>
            </a:r>
            <a:r>
              <a:rPr lang="en-US" dirty="0"/>
              <a:t>tatic IPv4 Address Assignment to a Host</a:t>
            </a:r>
          </a:p>
        </p:txBody>
      </p:sp>
      <p:pic>
        <p:nvPicPr>
          <p:cNvPr id="4" name="Content Placeholder 3" descr="Introduction to Networks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84233" y="917020"/>
            <a:ext cx="3245005" cy="3685398"/>
          </a:xfrm>
        </p:spPr>
      </p:pic>
      <p:sp>
        <p:nvSpPr>
          <p:cNvPr id="5" name="TextBox 4"/>
          <p:cNvSpPr txBox="1"/>
          <p:nvPr/>
        </p:nvSpPr>
        <p:spPr>
          <a:xfrm>
            <a:off x="223024" y="816659"/>
            <a:ext cx="4192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Some devices like printers, servers and network devices require a fixed IP address.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Hosts in a small network can also be configured with static addresses.</a:t>
            </a:r>
          </a:p>
        </p:txBody>
      </p:sp>
    </p:spTree>
    <p:extLst>
      <p:ext uri="{BB962C8B-B14F-4D97-AF65-F5344CB8AC3E}">
        <p14:creationId xmlns:p14="http://schemas.microsoft.com/office/powerpoint/2010/main" val="2588654484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Unicast, Broadcast, and Multicast</a:t>
            </a:r>
            <a:br>
              <a:rPr lang="en-US" altLang="en-US" dirty="0"/>
            </a:br>
            <a:r>
              <a:rPr lang="en-US" altLang="en-US" dirty="0"/>
              <a:t>Dynamic IPv4 Address Assignment to a Host</a:t>
            </a:r>
            <a:endParaRPr lang="en-US" dirty="0"/>
          </a:p>
        </p:txBody>
      </p:sp>
      <p:pic>
        <p:nvPicPr>
          <p:cNvPr id="3" name="Content Placeholder 2" descr="Introduction to Networks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86400" y="836802"/>
            <a:ext cx="3122341" cy="3871703"/>
          </a:xfrm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54335" y="798943"/>
            <a:ext cx="4552202" cy="38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Most networks use Dynamic Host Configuration Protocol (DHCP) to assign IPv4 addresses dynamically.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The DHCP server provides an IPv4 address, subnet mask, default gateway, and other configuration information.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DHCP leases the addresses to hosts for a certain length of time.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If the host is powered down or taken off the network, the address is returned to the pool for reuse. </a:t>
            </a:r>
          </a:p>
        </p:txBody>
      </p:sp>
    </p:spTree>
    <p:extLst>
      <p:ext uri="{BB962C8B-B14F-4D97-AF65-F5344CB8AC3E}">
        <p14:creationId xmlns:p14="http://schemas.microsoft.com/office/powerpoint/2010/main" val="1805098899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Unicast, Broadcast, and Multicast</a:t>
            </a:r>
            <a:br>
              <a:rPr lang="en-US" altLang="en-US" dirty="0"/>
            </a:br>
            <a:r>
              <a:rPr lang="en-US" altLang="en-US" dirty="0"/>
              <a:t>IPv4 Communication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34175" y="3081852"/>
            <a:ext cx="2754351" cy="1925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Unicast – one to one communication.</a:t>
            </a:r>
          </a:p>
        </p:txBody>
      </p:sp>
      <p:pic>
        <p:nvPicPr>
          <p:cNvPr id="4" name="Content Placeholder 3" descr="Introduction to Networks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4175" y="1009186"/>
            <a:ext cx="2609385" cy="1862424"/>
          </a:xfrm>
        </p:spPr>
      </p:pic>
      <p:pic>
        <p:nvPicPr>
          <p:cNvPr id="5" name="Picture 4" descr="Introduction to Networks - Mozilla Firefox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45005" y="1009185"/>
            <a:ext cx="2538978" cy="1862425"/>
          </a:xfrm>
          <a:prstGeom prst="rect">
            <a:avLst/>
          </a:prstGeom>
        </p:spPr>
      </p:pic>
      <p:pic>
        <p:nvPicPr>
          <p:cNvPr id="6" name="Picture 5" descr="Introduction to Networks - Mozilla Firefox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11226" y="1009186"/>
            <a:ext cx="2426559" cy="1862423"/>
          </a:xfrm>
          <a:prstGeom prst="rect">
            <a:avLst/>
          </a:prstGeom>
        </p:spPr>
      </p:pic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098180" y="3085966"/>
            <a:ext cx="2754351" cy="1925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Broadcast– one to all.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095303" y="3081852"/>
            <a:ext cx="2754351" cy="1925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Multicast – one to a select group.</a:t>
            </a:r>
          </a:p>
        </p:txBody>
      </p:sp>
    </p:spTree>
    <p:extLst>
      <p:ext uri="{BB962C8B-B14F-4D97-AF65-F5344CB8AC3E}">
        <p14:creationId xmlns:p14="http://schemas.microsoft.com/office/powerpoint/2010/main" val="2187478865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Unicast, Broadcast, and Multicast</a:t>
            </a:r>
            <a:br>
              <a:rPr lang="en-US" altLang="en-US" dirty="0"/>
            </a:br>
            <a:r>
              <a:rPr lang="en-US" altLang="en-US" dirty="0"/>
              <a:t>Unicast Transmission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78419" y="985423"/>
            <a:ext cx="3278459" cy="195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Unicast – one to one communication.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1500" dirty="0"/>
              <a:t>Use the address of the destination device as the destination address.</a:t>
            </a:r>
          </a:p>
        </p:txBody>
      </p:sp>
      <p:pic>
        <p:nvPicPr>
          <p:cNvPr id="3" name="Content Placeholder 2" descr="Introduction to Networks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68750" y="646770"/>
            <a:ext cx="4906537" cy="3617953"/>
          </a:xfrm>
        </p:spPr>
      </p:pic>
    </p:spTree>
    <p:extLst>
      <p:ext uri="{BB962C8B-B14F-4D97-AF65-F5344CB8AC3E}">
        <p14:creationId xmlns:p14="http://schemas.microsoft.com/office/powerpoint/2010/main" val="2520546117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IPv4 Unicast, Broadcast, and Multicast</a:t>
            </a:r>
            <a:br>
              <a:rPr lang="en-US" altLang="en-US" dirty="0"/>
            </a:br>
            <a:r>
              <a:rPr lang="en-US" altLang="en-US" dirty="0"/>
              <a:t>Broadcast Transmission</a:t>
            </a:r>
          </a:p>
        </p:txBody>
      </p:sp>
      <p:pic>
        <p:nvPicPr>
          <p:cNvPr id="4" name="Content Placeholder 3" descr="Introduction to Networks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804" y="992458"/>
            <a:ext cx="4522982" cy="3484073"/>
          </a:xfrm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024786" y="992459"/>
            <a:ext cx="3829282" cy="3010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Broadcast– one to all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altLang="en-US" sz="1500" dirty="0">
                <a:solidFill>
                  <a:srgbClr val="000000"/>
                </a:solidFill>
              </a:rPr>
              <a:t>Message sent to everyone in the LAN (broadcast domain.)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altLang="en-US" sz="1500" dirty="0">
                <a:solidFill>
                  <a:srgbClr val="000000"/>
                </a:solidFill>
              </a:rPr>
              <a:t>destination IPv4 address has all ones (1s) in the host portion.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33996086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IPv4 Unicast, Broadcast, and Multicast</a:t>
            </a:r>
            <a:br>
              <a:rPr lang="en-US" altLang="en-US" dirty="0"/>
            </a:br>
            <a:r>
              <a:rPr lang="en-US" altLang="en-US" dirty="0" err="1"/>
              <a:t>Multicast</a:t>
            </a:r>
            <a:r>
              <a:rPr lang="en-US" altLang="en-US" dirty="0"/>
              <a:t> Transmission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716966" y="981307"/>
            <a:ext cx="4036741" cy="3021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Multicast– one to a select group.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altLang="en-US" sz="1500" dirty="0">
                <a:solidFill>
                  <a:srgbClr val="000000"/>
                </a:solidFill>
              </a:rPr>
              <a:t>224.0.0.0 to 239.255.255.255 addresses reserved for multicast.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</a:rPr>
              <a:t>routing protocols use multicast transmission to exchange routing information.</a:t>
            </a:r>
          </a:p>
        </p:txBody>
      </p:sp>
      <p:pic>
        <p:nvPicPr>
          <p:cNvPr id="3" name="Content Placeholder 2" descr="Introduction to Networks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9502" y="981307"/>
            <a:ext cx="3845577" cy="2843561"/>
          </a:xfrm>
        </p:spPr>
      </p:pic>
    </p:spTree>
    <p:extLst>
      <p:ext uri="{BB962C8B-B14F-4D97-AF65-F5344CB8AC3E}">
        <p14:creationId xmlns:p14="http://schemas.microsoft.com/office/powerpoint/2010/main" val="2995782005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Types of IPv4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Public and Private IPv4 Addresses</a:t>
            </a:r>
            <a:endParaRPr lang="en-US" alt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6117" y="835538"/>
            <a:ext cx="5163015" cy="3895719"/>
          </a:xfrm>
        </p:spPr>
        <p:txBody>
          <a:bodyPr/>
          <a:lstStyle/>
          <a:p>
            <a:r>
              <a:rPr lang="en-US" altLang="en-US" sz="1800" dirty="0"/>
              <a:t>Private Addresses</a:t>
            </a:r>
          </a:p>
          <a:p>
            <a:pPr lvl="1"/>
            <a:r>
              <a:rPr lang="en-US" altLang="en-US" sz="1600" dirty="0"/>
              <a:t>Not routable</a:t>
            </a:r>
          </a:p>
          <a:p>
            <a:pPr lvl="1"/>
            <a:r>
              <a:rPr lang="en-US" altLang="en-US" sz="1600" dirty="0"/>
              <a:t>Introduced in mid 1990s due to depletion of IPv4 addresses</a:t>
            </a:r>
          </a:p>
          <a:p>
            <a:pPr lvl="1"/>
            <a:r>
              <a:rPr lang="en-US" altLang="en-US" sz="1600" dirty="0"/>
              <a:t>Used only in internal networks.</a:t>
            </a:r>
          </a:p>
          <a:p>
            <a:pPr lvl="1"/>
            <a:r>
              <a:rPr lang="en-US" altLang="en-US" sz="1600" dirty="0"/>
              <a:t>Must be translated to a public IPv4 to be routable.</a:t>
            </a:r>
          </a:p>
          <a:p>
            <a:pPr lvl="1"/>
            <a:r>
              <a:rPr lang="en-US" altLang="en-US" sz="1600" dirty="0"/>
              <a:t>Defined by RFC 1918</a:t>
            </a:r>
          </a:p>
          <a:p>
            <a:r>
              <a:rPr lang="en-US" altLang="en-US" sz="1800" dirty="0"/>
              <a:t>Private Address Blocks</a:t>
            </a:r>
          </a:p>
          <a:p>
            <a:pPr lvl="1"/>
            <a:r>
              <a:rPr lang="en-US" altLang="en-US" sz="1600" dirty="0"/>
              <a:t>10.0.0.0 /8 or 10.0.0.0 to 10.255.255.255</a:t>
            </a:r>
          </a:p>
          <a:p>
            <a:pPr lvl="1"/>
            <a:r>
              <a:rPr lang="en-US" altLang="en-US" sz="1600" dirty="0"/>
              <a:t>172.16.0.0 /12 or 172.16.0.0 to 172.31.255.255</a:t>
            </a:r>
          </a:p>
          <a:p>
            <a:pPr lvl="1"/>
            <a:r>
              <a:rPr lang="en-US" altLang="en-US" sz="1600" dirty="0"/>
              <a:t>192.168.0.0 /</a:t>
            </a:r>
            <a:r>
              <a:rPr lang="en-US" altLang="en-US" sz="1600"/>
              <a:t>16 or 192.168.0.0 </a:t>
            </a:r>
            <a:r>
              <a:rPr lang="en-US" altLang="en-US" sz="1600" dirty="0"/>
              <a:t>to 192.168.255.255</a:t>
            </a:r>
          </a:p>
          <a:p>
            <a:pPr lvl="1"/>
            <a:endParaRPr lang="en-US" altLang="en-US" sz="1800" dirty="0"/>
          </a:p>
          <a:p>
            <a:pPr lvl="1"/>
            <a:endParaRPr lang="en-US" altLang="en-US" sz="1800" dirty="0"/>
          </a:p>
          <a:p>
            <a:pPr lvl="1"/>
            <a:endParaRPr lang="en-US" altLang="en-US" sz="1800" dirty="0"/>
          </a:p>
          <a:p>
            <a:pPr marL="0" indent="0" eaLnBrk="1" hangingPunct="1">
              <a:buNone/>
            </a:pPr>
            <a:endParaRPr lang="en-CA" altLang="en-US" sz="1650" b="1" dirty="0"/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9132" y="1741160"/>
            <a:ext cx="3242729" cy="196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46885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Types of IPv4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Special User IPv4 Addresses</a:t>
            </a:r>
            <a:endParaRPr lang="en-US" alt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0985" y="798944"/>
            <a:ext cx="5163015" cy="3895719"/>
          </a:xfrm>
        </p:spPr>
        <p:txBody>
          <a:bodyPr/>
          <a:lstStyle/>
          <a:p>
            <a:r>
              <a:rPr lang="en-US" altLang="en-US" sz="1800" dirty="0"/>
              <a:t>Loopback addresses (127.0.0.0 /8 or 127.0.0.1) </a:t>
            </a:r>
          </a:p>
          <a:p>
            <a:pPr lvl="1"/>
            <a:r>
              <a:rPr lang="en-US" altLang="en-US" sz="1700" dirty="0"/>
              <a:t>Used on a host to test if the TCP/IP configuration is operational.</a:t>
            </a:r>
          </a:p>
          <a:p>
            <a:r>
              <a:rPr lang="en-US" altLang="en-US" sz="1800" dirty="0"/>
              <a:t>Link-Local addresses (169.254.0.0 /16 or 169.254.0.1) </a:t>
            </a:r>
          </a:p>
          <a:p>
            <a:pPr lvl="1"/>
            <a:r>
              <a:rPr lang="en-US" altLang="en-US" sz="1700" dirty="0"/>
              <a:t>Commonly known as Automatic Private IP Addressing (APIPA) addresses.</a:t>
            </a:r>
          </a:p>
          <a:p>
            <a:pPr lvl="1"/>
            <a:r>
              <a:rPr lang="en-US" altLang="en-US" sz="1700" dirty="0"/>
              <a:t>Used by Windows client to self configure if no DHCP server available.</a:t>
            </a:r>
          </a:p>
          <a:p>
            <a:r>
              <a:rPr lang="en-US" altLang="en-US" sz="1600" dirty="0"/>
              <a:t>TEST-NET addresses (192.0.2.0/24 or 192.0.2.0 to 192.0.2.255)</a:t>
            </a:r>
          </a:p>
          <a:p>
            <a:pPr lvl="1"/>
            <a:r>
              <a:rPr lang="en-US" altLang="en-US" sz="1700" dirty="0"/>
              <a:t>Used for teaching and learning.</a:t>
            </a:r>
          </a:p>
          <a:p>
            <a:pPr lvl="1"/>
            <a:endParaRPr lang="en-US" altLang="en-US" sz="1800" dirty="0"/>
          </a:p>
          <a:p>
            <a:pPr lvl="1"/>
            <a:endParaRPr lang="en-US" altLang="en-US" sz="1800" dirty="0"/>
          </a:p>
          <a:p>
            <a:pPr marL="0" indent="0" eaLnBrk="1" hangingPunct="1">
              <a:buNone/>
            </a:pPr>
            <a:endParaRPr lang="en-CA" altLang="en-US" sz="1650" b="1" dirty="0"/>
          </a:p>
        </p:txBody>
      </p:sp>
      <p:pic>
        <p:nvPicPr>
          <p:cNvPr id="4" name="Picture 3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2071" y="1136726"/>
            <a:ext cx="3736844" cy="279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94715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Types of IPv4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Legacy Classful Addressing</a:t>
            </a:r>
            <a:endParaRPr lang="en-US" alt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0985" y="798944"/>
            <a:ext cx="5163015" cy="3895719"/>
          </a:xfrm>
        </p:spPr>
        <p:txBody>
          <a:bodyPr/>
          <a:lstStyle/>
          <a:p>
            <a:r>
              <a:rPr lang="en-US" altLang="en-US" sz="1800" dirty="0"/>
              <a:t>In 1981, Internet IPv4 addresses were assigned using classful addressing (RFC 790)</a:t>
            </a:r>
          </a:p>
          <a:p>
            <a:r>
              <a:rPr lang="en-US" altLang="en-US" sz="1800" dirty="0"/>
              <a:t>Network addresses were based on 3 classes: </a:t>
            </a:r>
          </a:p>
          <a:p>
            <a:pPr lvl="1"/>
            <a:r>
              <a:rPr lang="en-US" altLang="en-US" sz="1600" b="1" dirty="0"/>
              <a:t>Class A </a:t>
            </a:r>
            <a:r>
              <a:rPr lang="en-US" altLang="en-US" sz="1600" dirty="0"/>
              <a:t>(0.0.0.0/8 to 127.0.0.0/8) – Designed to support extremely large networks with more than 16 million host addresses.</a:t>
            </a:r>
          </a:p>
          <a:p>
            <a:pPr lvl="1"/>
            <a:r>
              <a:rPr lang="en-US" altLang="en-US" sz="1700" b="1" dirty="0"/>
              <a:t>Class B </a:t>
            </a:r>
            <a:r>
              <a:rPr lang="en-US" altLang="en-US" sz="1700" dirty="0"/>
              <a:t>(128.0.0.0 /16 – 191.255.0.0 /16) – Designed to support the needs of moderate to large size networks up to approximately 65,000 host addresses.</a:t>
            </a:r>
          </a:p>
          <a:p>
            <a:pPr lvl="1"/>
            <a:r>
              <a:rPr lang="en-US" altLang="en-US" sz="1700" b="1" dirty="0"/>
              <a:t>Class C </a:t>
            </a:r>
            <a:r>
              <a:rPr lang="en-US" altLang="en-US" sz="1700" dirty="0"/>
              <a:t>(192.0.0.0 /24 – 223.255.255.0 /24) – Designed to support small networks with a maximum of 254 hosts.</a:t>
            </a:r>
          </a:p>
          <a:p>
            <a:endParaRPr lang="en-US" altLang="en-US" sz="1800" dirty="0"/>
          </a:p>
          <a:p>
            <a:pPr marL="0" indent="0" eaLnBrk="1" hangingPunct="1">
              <a:buNone/>
            </a:pPr>
            <a:endParaRPr lang="en-CA" altLang="en-US" sz="1650" b="1" dirty="0"/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2276" y="3546088"/>
            <a:ext cx="3690366" cy="906684"/>
          </a:xfrm>
          <a:prstGeom prst="rect">
            <a:avLst/>
          </a:prstGeom>
        </p:spPr>
      </p:pic>
      <p:pic>
        <p:nvPicPr>
          <p:cNvPr id="5" name="Picture 4" descr="Introduction to Networks - Mozilla Firefox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618" y="1001220"/>
            <a:ext cx="3624835" cy="1163722"/>
          </a:xfrm>
          <a:prstGeom prst="rect">
            <a:avLst/>
          </a:prstGeom>
        </p:spPr>
      </p:pic>
      <p:pic>
        <p:nvPicPr>
          <p:cNvPr id="7" name="Picture 6" descr="Introduction to Networks - Mozilla Firefox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9466" y="2367218"/>
            <a:ext cx="3635987" cy="88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39809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Types of IPv4 Addresses</a:t>
            </a:r>
            <a:br>
              <a:rPr lang="en-US" altLang="en-US" dirty="0"/>
            </a:br>
            <a:r>
              <a:rPr lang="en-US" altLang="en-US" dirty="0"/>
              <a:t>Video Demonstration - Classful IPv4 Addressing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44065" y="798944"/>
            <a:ext cx="3959160" cy="4155319"/>
          </a:xfrm>
        </p:spPr>
        <p:txBody>
          <a:bodyPr/>
          <a:lstStyle/>
          <a:p>
            <a:r>
              <a:rPr lang="en-US" altLang="en-US" dirty="0"/>
              <a:t>Discussion of Classful Addressing</a:t>
            </a:r>
          </a:p>
          <a:p>
            <a:pPr lvl="1"/>
            <a:r>
              <a:rPr lang="en-US" altLang="en-US" dirty="0"/>
              <a:t>Identifying a Classful address by the IP address and the subnet mask</a:t>
            </a:r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3" name="Picture 2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1576" y="1349298"/>
            <a:ext cx="4104073" cy="24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37481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Types of IPv4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Classless Addressing</a:t>
            </a:r>
            <a:endParaRPr lang="en-US" alt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7034" y="798944"/>
            <a:ext cx="4716966" cy="4196802"/>
          </a:xfrm>
        </p:spPr>
        <p:txBody>
          <a:bodyPr/>
          <a:lstStyle/>
          <a:p>
            <a:r>
              <a:rPr lang="en-US" altLang="en-US" sz="1800" dirty="0"/>
              <a:t>Classful Addressing wasted addresses and exhausted the availability of IPv4 addresses.</a:t>
            </a:r>
          </a:p>
          <a:p>
            <a:r>
              <a:rPr lang="en-US" altLang="en-US" sz="1800" dirty="0"/>
              <a:t>Classless Addressing Introduced in the 1990s</a:t>
            </a:r>
          </a:p>
          <a:p>
            <a:pPr lvl="1"/>
            <a:r>
              <a:rPr lang="en-US" altLang="en-US" sz="1700" dirty="0"/>
              <a:t>Classless Inter-Domain Routing (CIDR, pronounced “cider”)</a:t>
            </a:r>
          </a:p>
          <a:p>
            <a:pPr lvl="1"/>
            <a:r>
              <a:rPr lang="en-US" altLang="en-US" sz="1700" dirty="0"/>
              <a:t>Allowed service providers to allocate IPv4 addresses on any address bit boundary (prefix length) instead of only by a class A, B, or C.</a:t>
            </a:r>
            <a:endParaRPr lang="en-CA" altLang="en-US" sz="1650" b="1" dirty="0"/>
          </a:p>
        </p:txBody>
      </p:sp>
      <p:pic>
        <p:nvPicPr>
          <p:cNvPr id="4" name="Picture 3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6856" y="1126273"/>
            <a:ext cx="4011723" cy="277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021363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Types of IPv4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Assignment of IP Addresses</a:t>
            </a:r>
            <a:endParaRPr lang="en-US" alt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53462" y="747346"/>
            <a:ext cx="4716966" cy="4396154"/>
          </a:xfrm>
        </p:spPr>
        <p:txBody>
          <a:bodyPr/>
          <a:lstStyle/>
          <a:p>
            <a:r>
              <a:rPr lang="en-US" altLang="en-US" sz="1800" dirty="0"/>
              <a:t>The following organizations manage and maintain IPv4 and IPv6 addresses for the various regions.</a:t>
            </a:r>
          </a:p>
          <a:p>
            <a:pPr lvl="1"/>
            <a:r>
              <a:rPr lang="en-US" altLang="en-US" sz="1550" dirty="0"/>
              <a:t>American Registry for Internet Numbers (ARIN)- North America.</a:t>
            </a:r>
          </a:p>
          <a:p>
            <a:pPr lvl="1"/>
            <a:r>
              <a:rPr lang="en-CA" altLang="en-US" sz="1550" dirty="0" err="1"/>
              <a:t>Réseaux</a:t>
            </a:r>
            <a:r>
              <a:rPr lang="en-CA" altLang="en-US" sz="1550" dirty="0"/>
              <a:t> IP Europeans (RIPE) - </a:t>
            </a:r>
            <a:r>
              <a:rPr lang="en-US" altLang="en-US" sz="1550" dirty="0"/>
              <a:t>Europe, the Middle East, and Central Asia</a:t>
            </a:r>
          </a:p>
          <a:p>
            <a:pPr lvl="1"/>
            <a:r>
              <a:rPr lang="en-US" altLang="en-US" sz="1550" dirty="0"/>
              <a:t>Asia Pacific Network Information Centre (APNIC)  - Asia and Pacific regions</a:t>
            </a:r>
          </a:p>
          <a:p>
            <a:pPr lvl="1"/>
            <a:r>
              <a:rPr lang="en-CA" altLang="en-US" sz="1550" dirty="0"/>
              <a:t>African Network Information Centre (</a:t>
            </a:r>
            <a:r>
              <a:rPr lang="en-CA" altLang="en-US" sz="1550" dirty="0" err="1"/>
              <a:t>AfriNIC</a:t>
            </a:r>
            <a:r>
              <a:rPr lang="en-CA" altLang="en-US" sz="1550" dirty="0"/>
              <a:t>) – Africa</a:t>
            </a:r>
          </a:p>
          <a:p>
            <a:pPr lvl="1"/>
            <a:r>
              <a:rPr lang="en-US" altLang="en-US" sz="1550" dirty="0"/>
              <a:t>Regional Latin-American and Caribbean IP Address Registry (LACNIC) - Latin America and some Caribbean islands</a:t>
            </a:r>
            <a:endParaRPr lang="en-CA" altLang="en-US" sz="1550" dirty="0"/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055" y="998482"/>
            <a:ext cx="3942588" cy="209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725066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/>
              <a:t>7.2 IPv6 Network Addresses</a:t>
            </a:r>
          </a:p>
        </p:txBody>
      </p:sp>
    </p:spTree>
    <p:extLst>
      <p:ext uri="{BB962C8B-B14F-4D97-AF65-F5344CB8AC3E}">
        <p14:creationId xmlns:p14="http://schemas.microsoft.com/office/powerpoint/2010/main" val="3379956648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IPv4 Issues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The Need for IPv6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61933" y="798944"/>
            <a:ext cx="3914077" cy="4010052"/>
          </a:xfrm>
        </p:spPr>
        <p:txBody>
          <a:bodyPr/>
          <a:lstStyle/>
          <a:p>
            <a:r>
              <a:rPr lang="en-US" altLang="en-US" sz="1800" dirty="0"/>
              <a:t>IPv6 versus IPv4:</a:t>
            </a:r>
          </a:p>
          <a:p>
            <a:pPr lvl="1"/>
            <a:r>
              <a:rPr lang="en-US" altLang="en-US" dirty="0"/>
              <a:t>Has a larger 128-bit address space</a:t>
            </a:r>
          </a:p>
          <a:p>
            <a:pPr lvl="1"/>
            <a:r>
              <a:rPr lang="en-US" altLang="en-US" dirty="0"/>
              <a:t>340 undecillion addresses</a:t>
            </a:r>
          </a:p>
          <a:p>
            <a:pPr lvl="1"/>
            <a:r>
              <a:rPr lang="en-US" altLang="en-US" dirty="0"/>
              <a:t>Solves limitations with IPv4</a:t>
            </a:r>
          </a:p>
          <a:p>
            <a:pPr lvl="1"/>
            <a:r>
              <a:rPr lang="en-US" altLang="en-US" dirty="0"/>
              <a:t>Adds enhancement like address auto-configuration.</a:t>
            </a:r>
          </a:p>
          <a:p>
            <a:r>
              <a:rPr lang="en-CA" altLang="en-US" sz="1800" dirty="0"/>
              <a:t>Why IPv6 is needed:</a:t>
            </a:r>
          </a:p>
          <a:p>
            <a:pPr lvl="1"/>
            <a:r>
              <a:rPr lang="en-CA" altLang="en-US" sz="1550" dirty="0"/>
              <a:t>Rapidly increasing Internet population</a:t>
            </a:r>
          </a:p>
          <a:p>
            <a:pPr lvl="1"/>
            <a:r>
              <a:rPr lang="en-CA" altLang="en-US" sz="1550" dirty="0"/>
              <a:t>Depletion of IPv4</a:t>
            </a:r>
          </a:p>
          <a:p>
            <a:pPr lvl="1"/>
            <a:r>
              <a:rPr lang="en-CA" altLang="en-US" sz="1550" dirty="0"/>
              <a:t>Issues with NAT</a:t>
            </a:r>
          </a:p>
          <a:p>
            <a:pPr lvl="1"/>
            <a:r>
              <a:rPr lang="en-CA" altLang="en-US" sz="1550" dirty="0"/>
              <a:t>Internet of Things</a:t>
            </a:r>
          </a:p>
          <a:p>
            <a:pPr lvl="1"/>
            <a:endParaRPr lang="en-CA" altLang="en-US" sz="1550" dirty="0"/>
          </a:p>
        </p:txBody>
      </p:sp>
      <p:pic>
        <p:nvPicPr>
          <p:cNvPr id="5" name="Picture 4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3145" y="1059364"/>
            <a:ext cx="4728788" cy="259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977820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IPv4 Issues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IPv4 and IPv6 Coexistence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656" y="798944"/>
            <a:ext cx="4834727" cy="4010052"/>
          </a:xfrm>
        </p:spPr>
        <p:txBody>
          <a:bodyPr/>
          <a:lstStyle/>
          <a:p>
            <a:r>
              <a:rPr lang="en-US" altLang="en-US" sz="1800" dirty="0"/>
              <a:t>Migration from IPv4 to IPv6 Techniques  </a:t>
            </a:r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9226" y="1470751"/>
            <a:ext cx="2443267" cy="169996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70227" y="3387081"/>
            <a:ext cx="281939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</a:rPr>
              <a:t>Translation</a:t>
            </a:r>
            <a:r>
              <a:rPr lang="en-US" sz="1600" dirty="0"/>
              <a:t> - Network Address Translation 64 (NAT64) allows IPv6-enabled devices to communicate with IPv4 devices.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7832" y="3413137"/>
            <a:ext cx="2608576" cy="861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</a:rPr>
              <a:t>Tunneling</a:t>
            </a:r>
            <a:r>
              <a:rPr lang="en-US" sz="1600" dirty="0">
                <a:latin typeface="+mn-lt"/>
              </a:rPr>
              <a:t> - The IPv6 packet is encapsulated inside an IPv4 packet.</a:t>
            </a:r>
          </a:p>
        </p:txBody>
      </p:sp>
      <p:pic>
        <p:nvPicPr>
          <p:cNvPr id="7" name="Picture 6" descr="Introduction to Networks - Mozilla Firefox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79707" y="1485245"/>
            <a:ext cx="2732876" cy="15678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9225" y="3377513"/>
            <a:ext cx="2458971" cy="109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</a:rPr>
              <a:t>Dual stack </a:t>
            </a:r>
            <a:r>
              <a:rPr lang="en-US" sz="1600" dirty="0">
                <a:latin typeface="+mn-lt"/>
              </a:rPr>
              <a:t>-  Devices run both IPv4 and IPv6 protocol stacks simultaneously.</a:t>
            </a:r>
          </a:p>
        </p:txBody>
      </p:sp>
      <p:pic>
        <p:nvPicPr>
          <p:cNvPr id="10" name="Picture 9" descr="Introduction to Networks - Mozilla Firefox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5026" y="1840675"/>
            <a:ext cx="2825688" cy="98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38831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Addressing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IPv6 Address Representation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6378" y="798944"/>
            <a:ext cx="3914077" cy="4010052"/>
          </a:xfrm>
        </p:spPr>
        <p:txBody>
          <a:bodyPr/>
          <a:lstStyle/>
          <a:p>
            <a:r>
              <a:rPr lang="en-US" altLang="en-US" sz="1800" dirty="0"/>
              <a:t>IPv6 Addresses:</a:t>
            </a:r>
          </a:p>
          <a:p>
            <a:pPr lvl="1"/>
            <a:r>
              <a:rPr lang="en-US" altLang="en-US" sz="1600" dirty="0"/>
              <a:t>128 bits in length</a:t>
            </a:r>
          </a:p>
          <a:p>
            <a:pPr lvl="1"/>
            <a:r>
              <a:rPr lang="en-US" altLang="en-US" sz="1600" dirty="0"/>
              <a:t>Every 4 bits is represented by a single hexadecimal digit</a:t>
            </a:r>
          </a:p>
          <a:p>
            <a:pPr lvl="1"/>
            <a:r>
              <a:rPr lang="en-US" altLang="en-US" sz="1600" dirty="0" err="1"/>
              <a:t>Hextet</a:t>
            </a:r>
            <a:r>
              <a:rPr lang="en-US" altLang="en-US" sz="1600" dirty="0"/>
              <a:t> - unofficial term referring to a segment of 16 bits or four hexadecimal values.</a:t>
            </a:r>
          </a:p>
          <a:p>
            <a:pPr marL="142875" lvl="1" indent="0">
              <a:buNone/>
            </a:pPr>
            <a:endParaRPr lang="en-CA" altLang="en-US" sz="1550" dirty="0"/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883" y="818426"/>
            <a:ext cx="4371278" cy="282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10522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Addressing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IPv6 Address Representation 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6378" y="932756"/>
            <a:ext cx="5909456" cy="3304707"/>
          </a:xfrm>
        </p:spPr>
        <p:txBody>
          <a:bodyPr/>
          <a:lstStyle/>
          <a:p>
            <a:r>
              <a:rPr lang="en-US" altLang="en-US" sz="1800" dirty="0"/>
              <a:t>Preferred format for IPv6 representation</a:t>
            </a:r>
          </a:p>
          <a:p>
            <a:pPr marL="142875" lvl="1" indent="0">
              <a:buNone/>
            </a:pPr>
            <a:endParaRPr lang="en-CA" altLang="en-US" sz="1550" dirty="0"/>
          </a:p>
        </p:txBody>
      </p:sp>
      <p:pic>
        <p:nvPicPr>
          <p:cNvPr id="4" name="Picture 3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5577" y="1449655"/>
            <a:ext cx="6049755" cy="307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180873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Addressing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Rule 1 – Omit Leading 0s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6378" y="910455"/>
            <a:ext cx="5909456" cy="1319790"/>
          </a:xfrm>
        </p:spPr>
        <p:txBody>
          <a:bodyPr/>
          <a:lstStyle/>
          <a:p>
            <a:r>
              <a:rPr lang="en-US" altLang="en-US" sz="1800" dirty="0"/>
              <a:t>In order to reduce or compress IPv6 </a:t>
            </a:r>
          </a:p>
          <a:p>
            <a:pPr lvl="1"/>
            <a:r>
              <a:rPr lang="en-US" altLang="en-US" sz="1700" dirty="0"/>
              <a:t>First rule is to omit leading zeros in any </a:t>
            </a:r>
            <a:r>
              <a:rPr lang="en-US" altLang="en-US" sz="1700" dirty="0" err="1"/>
              <a:t>hextet</a:t>
            </a:r>
            <a:r>
              <a:rPr lang="en-US" altLang="en-US" sz="1700" dirty="0"/>
              <a:t>.</a:t>
            </a:r>
          </a:p>
          <a:p>
            <a:endParaRPr lang="en-US" altLang="en-US" sz="1800" dirty="0"/>
          </a:p>
          <a:p>
            <a:pPr marL="142875" lvl="1" indent="0">
              <a:buNone/>
            </a:pPr>
            <a:endParaRPr lang="en-CA" altLang="en-US" sz="1550" dirty="0"/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5844" y="1789771"/>
            <a:ext cx="5307980" cy="880948"/>
          </a:xfrm>
          <a:prstGeom prst="rect">
            <a:avLst/>
          </a:prstGeom>
        </p:spPr>
      </p:pic>
      <p:pic>
        <p:nvPicPr>
          <p:cNvPr id="5" name="Picture 4" descr="Introduction to Networks - Mozilla Firefox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38146" y="2771078"/>
            <a:ext cx="5252225" cy="814039"/>
          </a:xfrm>
          <a:prstGeom prst="rect">
            <a:avLst/>
          </a:prstGeom>
        </p:spPr>
      </p:pic>
      <p:pic>
        <p:nvPicPr>
          <p:cNvPr id="6" name="Picture 5" descr="Introduction to Networks - Mozilla Firefox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38146" y="3773059"/>
            <a:ext cx="5229922" cy="83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15539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Addressing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Rule 2 – Omit All 0 Segments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6378" y="910455"/>
            <a:ext cx="5909456" cy="1319790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700" dirty="0"/>
              <a:t>Rule 2 – Omit All 0 Segments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600" dirty="0"/>
              <a:t>A double colon (::) can replace any single, contiguous string of one or more 16-bit segments (</a:t>
            </a:r>
            <a:r>
              <a:rPr lang="en-US" altLang="en-US" sz="1600" dirty="0" err="1"/>
              <a:t>hextets</a:t>
            </a:r>
            <a:r>
              <a:rPr lang="en-US" altLang="en-US" sz="1600" dirty="0"/>
              <a:t>) consisting of all 0s. </a:t>
            </a:r>
          </a:p>
          <a:p>
            <a:pPr marL="142875" lvl="1" indent="0">
              <a:buNone/>
            </a:pPr>
            <a:endParaRPr lang="en-CA" altLang="en-US" sz="1550" dirty="0"/>
          </a:p>
        </p:txBody>
      </p:sp>
      <p:pic>
        <p:nvPicPr>
          <p:cNvPr id="7" name="Picture 6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00521" y="1987217"/>
            <a:ext cx="5274527" cy="237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40975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Addressing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Rule 2 – Omit All 0 Segments 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6378" y="910455"/>
            <a:ext cx="5909456" cy="1319790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700" dirty="0"/>
              <a:t>Rule 2 – Omit All 0 Segments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600" dirty="0"/>
              <a:t>A double colon (::) can replace any single, contiguous string of one or more 16-bit segments (</a:t>
            </a:r>
            <a:r>
              <a:rPr lang="en-US" altLang="en-US" sz="1600" dirty="0" err="1"/>
              <a:t>hextets</a:t>
            </a:r>
            <a:r>
              <a:rPr lang="en-US" altLang="en-US" sz="1600" dirty="0"/>
              <a:t>) consisting of all 0s. </a:t>
            </a:r>
          </a:p>
          <a:p>
            <a:pPr marL="142875" lvl="1" indent="0">
              <a:buNone/>
            </a:pPr>
            <a:endParaRPr lang="en-CA" altLang="en-US" sz="1550" dirty="0"/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96429" y="1906860"/>
            <a:ext cx="6243314" cy="1293540"/>
          </a:xfrm>
          <a:prstGeom prst="rect">
            <a:avLst/>
          </a:prstGeom>
        </p:spPr>
      </p:pic>
      <p:pic>
        <p:nvPicPr>
          <p:cNvPr id="4" name="Picture 3" descr="Introduction to Networks - Mozilla Firefox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8731" y="3338161"/>
            <a:ext cx="6144322" cy="133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28537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Types of IPv6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IPv6 Address Types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3715" y="798944"/>
            <a:ext cx="4047202" cy="3605788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Three types of IPv6 addresses: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600" b="1" dirty="0"/>
              <a:t>Unicast</a:t>
            </a:r>
            <a:r>
              <a:rPr lang="en-US" altLang="en-US" sz="1600" dirty="0"/>
              <a:t>- Single source IPv6 address.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600" b="1" dirty="0"/>
              <a:t>Multicast </a:t>
            </a:r>
            <a:r>
              <a:rPr lang="en-US" altLang="en-US" sz="1600" dirty="0"/>
              <a:t>- An IPv6 multicast address is used to send a single IPv6 packet to multiple destinations.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600" b="1" dirty="0" err="1"/>
              <a:t>Anycast</a:t>
            </a:r>
            <a:r>
              <a:rPr lang="en-US" altLang="en-US" sz="1600" dirty="0"/>
              <a:t> - An IPv6 </a:t>
            </a:r>
            <a:r>
              <a:rPr lang="en-US" altLang="en-US" sz="1600" dirty="0" err="1"/>
              <a:t>anycast</a:t>
            </a:r>
            <a:r>
              <a:rPr lang="en-US" altLang="en-US" sz="1600" dirty="0"/>
              <a:t> address is any IPv6 unicast address that can be assigned to multiple devices.</a:t>
            </a:r>
          </a:p>
          <a:p>
            <a:pPr marL="142875" lvl="1" indent="0">
              <a:buNone/>
            </a:pPr>
            <a:endParaRPr lang="en-CA" altLang="en-US" sz="1550" dirty="0"/>
          </a:p>
        </p:txBody>
      </p:sp>
      <p:pic>
        <p:nvPicPr>
          <p:cNvPr id="5" name="Picture 4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94631" y="798944"/>
            <a:ext cx="4357020" cy="355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91054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Types of IPv6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IPv6 Prefix Length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3714" y="798944"/>
            <a:ext cx="8920285" cy="3605788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The IPv6 prefix length is used to indicate the network portion of an IPv6 address: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1600" dirty="0"/>
              <a:t>The prefix length can range from 0 to 128.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1600" dirty="0"/>
              <a:t>Typical IPv6 prefix length for most LANs is /64</a:t>
            </a:r>
          </a:p>
          <a:p>
            <a:pPr lvl="4">
              <a:buFont typeface="Arial" panose="020B0604020202020204" pitchFamily="34" charset="0"/>
              <a:buChar char="•"/>
            </a:pPr>
            <a:endParaRPr lang="en-US" altLang="en-US" sz="1500" dirty="0"/>
          </a:p>
          <a:p>
            <a:pPr lvl="3">
              <a:buFont typeface="Arial" panose="020B0604020202020204" pitchFamily="34" charset="0"/>
              <a:buChar char="•"/>
            </a:pPr>
            <a:endParaRPr lang="en-CA" altLang="en-US" sz="1250" dirty="0"/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6995" y="2077507"/>
            <a:ext cx="6289287" cy="244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20613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Types of IPv6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IPv6 Unicast Addresses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3714" y="798943"/>
            <a:ext cx="3578851" cy="3672695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b="1" dirty="0"/>
              <a:t>Global Unicast </a:t>
            </a:r>
            <a:r>
              <a:rPr lang="en-US" altLang="en-US" sz="1800" dirty="0"/>
              <a:t>- These are globally unique, Internet routable addresses.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altLang="en-US" sz="1800" b="1" dirty="0"/>
              <a:t>Link-loca</a:t>
            </a:r>
            <a:r>
              <a:rPr lang="en-CA" altLang="en-US" sz="1800" dirty="0"/>
              <a:t>l - </a:t>
            </a:r>
            <a:r>
              <a:rPr lang="en-US" altLang="en-US" sz="1800" dirty="0"/>
              <a:t>used to communicate with other devices on the same local link. Confined to a single link.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b="1" dirty="0"/>
              <a:t>Unique Local </a:t>
            </a:r>
            <a:r>
              <a:rPr lang="en-US" altLang="en-US" sz="1800" dirty="0"/>
              <a:t>- used for local addressing within a site or between a limited number of sites.</a:t>
            </a:r>
            <a:endParaRPr lang="en-CA" altLang="en-US" sz="1800" dirty="0"/>
          </a:p>
        </p:txBody>
      </p:sp>
      <p:pic>
        <p:nvPicPr>
          <p:cNvPr id="3" name="Picture 2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92050" y="798943"/>
            <a:ext cx="4739353" cy="367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4389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Types of IPv6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IPv6 Link-Local Unicast Addresses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202" y="798944"/>
            <a:ext cx="3701515" cy="3918022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IPv6 link-local addresses: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600" dirty="0"/>
              <a:t>Enable a device to communicate with other IPv6-enabled devices on the same link only.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1600" dirty="0"/>
              <a:t>Are created even if the device has not been assigned a global unicast IPv6 address.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600" dirty="0"/>
              <a:t>Are in the FE80::/10 range. </a:t>
            </a:r>
          </a:p>
          <a:p>
            <a:pPr marL="261937" lvl="2" indent="0">
              <a:buNone/>
            </a:pPr>
            <a:endParaRPr lang="en-US" altLang="en-US" sz="1600" dirty="0"/>
          </a:p>
          <a:p>
            <a:pPr marL="142875" lvl="1" indent="0">
              <a:buNone/>
            </a:pPr>
            <a:r>
              <a:rPr lang="en-US" altLang="en-US" dirty="0"/>
              <a:t>Note: Typically, it is the link-local address of the router that is used as the default gateway for other devices on the link.</a:t>
            </a:r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14438" y="880996"/>
            <a:ext cx="4259767" cy="342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728116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Unicast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Structure of an IPv6 Global Unicast Address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91355" y="1876162"/>
            <a:ext cx="3700105" cy="3918022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600" dirty="0"/>
              <a:t>A global unicast address has three parts: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600" b="1" dirty="0"/>
              <a:t>Global routing prefix </a:t>
            </a:r>
            <a:r>
              <a:rPr lang="en-US" altLang="en-US" sz="1600" dirty="0"/>
              <a:t>- network, portion of the address that is assigned by the provider. Typically /48.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600" b="1" dirty="0"/>
              <a:t>Subnet ID – </a:t>
            </a:r>
            <a:r>
              <a:rPr lang="en-US" altLang="en-US" sz="1600" dirty="0"/>
              <a:t>Used to subnet within an organization.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600" b="1" dirty="0"/>
              <a:t>Interface ID </a:t>
            </a:r>
            <a:r>
              <a:rPr lang="en-US" altLang="en-US" sz="1600" dirty="0"/>
              <a:t>- equivalent to the host portion of an IPv4 address.</a:t>
            </a:r>
          </a:p>
        </p:txBody>
      </p:sp>
      <p:pic>
        <p:nvPicPr>
          <p:cNvPr id="3" name="Picture 2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21567" y="798944"/>
            <a:ext cx="4638662" cy="15428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66259" y="798944"/>
            <a:ext cx="351469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lvl="1" indent="-215900" defTabSz="684213"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rgbClr val="000000"/>
                </a:solidFill>
                <a:latin typeface="Arial"/>
                <a:ea typeface="ＭＳ Ｐゴシック" charset="0"/>
              </a:rPr>
              <a:t>Currently, only global unicast addresses with the first three bits of 001 or 2000::/3 are being assigned</a:t>
            </a:r>
          </a:p>
        </p:txBody>
      </p:sp>
      <p:pic>
        <p:nvPicPr>
          <p:cNvPr id="6" name="Picture 5" descr="Introduction to Networks - Mozilla Firefox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70118" y="2523472"/>
            <a:ext cx="3420094" cy="21540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58244" y="2505694"/>
            <a:ext cx="3431969" cy="2173184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355680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Unicast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Static Configuration of a Global Unicast Address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30467" y="802241"/>
            <a:ext cx="3701515" cy="3918022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Router Configuration: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600" dirty="0"/>
              <a:t>Similar commands to IPv4, replace IPv4 with IPv6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600" dirty="0"/>
              <a:t>Command to configure andIPv6 global unicast  on an interface is </a:t>
            </a:r>
            <a:r>
              <a:rPr lang="en-US" altLang="en-US" sz="1600" b="1" dirty="0"/>
              <a:t>ipv6 address </a:t>
            </a:r>
            <a:r>
              <a:rPr lang="en-US" altLang="en-US" sz="1600" i="1" dirty="0"/>
              <a:t>ipv6-address/prefix-length</a:t>
            </a:r>
          </a:p>
        </p:txBody>
      </p:sp>
      <p:pic>
        <p:nvPicPr>
          <p:cNvPr id="3" name="Picture 2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453" y="798944"/>
            <a:ext cx="5038370" cy="392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747775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Unicast Addresses</a:t>
            </a:r>
            <a:br>
              <a:rPr lang="en-US" altLang="en-US" sz="1600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Static Configuration of a Global Unicast Address 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7621" y="1000823"/>
            <a:ext cx="4276855" cy="3918022"/>
          </a:xfrm>
        </p:spPr>
        <p:txBody>
          <a:bodyPr/>
          <a:lstStyle/>
          <a:p>
            <a:r>
              <a:rPr lang="en-US" altLang="en-US" sz="1900" dirty="0"/>
              <a:t>Host Configuration: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600" dirty="0"/>
              <a:t>Manually configuring the IPv6 address on a host is similar to configuring an IPv4 address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1600" dirty="0"/>
              <a:t>Default gateway address can be configured to match the link-local or global unicast address of the Gigabit Ethernet interface.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 dirty="0"/>
              <a:t>Dynamic assignment of IPv6 addresses: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1600" dirty="0"/>
              <a:t>Stateless Address </a:t>
            </a:r>
            <a:r>
              <a:rPr lang="en-US" altLang="en-US" sz="1600" dirty="0" err="1"/>
              <a:t>Autoconfiguration</a:t>
            </a:r>
            <a:r>
              <a:rPr lang="en-US" altLang="en-US" sz="1600" dirty="0"/>
              <a:t> (SLAAC)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1600" dirty="0" err="1"/>
              <a:t>Stateful</a:t>
            </a:r>
            <a:r>
              <a:rPr lang="en-US" altLang="en-US" sz="1600" dirty="0"/>
              <a:t> DHCPv6</a:t>
            </a:r>
          </a:p>
          <a:p>
            <a:pPr lvl="3">
              <a:buFont typeface="Wingdings" panose="05000000000000000000" pitchFamily="2" charset="2"/>
              <a:buChar char="§"/>
            </a:pPr>
            <a:endParaRPr lang="en-US" altLang="en-US" sz="1500" dirty="0"/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0639" y="1009401"/>
            <a:ext cx="3726611" cy="313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183404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Unicast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Dynamic Configuration - SLAAC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55" y="794220"/>
            <a:ext cx="3931168" cy="3918022"/>
          </a:xfrm>
        </p:spPr>
        <p:txBody>
          <a:bodyPr/>
          <a:lstStyle/>
          <a:p>
            <a:r>
              <a:rPr lang="en-US" altLang="en-US" sz="1800" dirty="0"/>
              <a:t>Stateless Address </a:t>
            </a:r>
            <a:r>
              <a:rPr lang="en-US" altLang="en-US" sz="1800" dirty="0" err="1"/>
              <a:t>Autoconfiguration</a:t>
            </a:r>
            <a:r>
              <a:rPr lang="en-US" altLang="en-US" sz="1800" dirty="0"/>
              <a:t> (SLAAC):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600" dirty="0"/>
              <a:t>A device can obtain its prefix, prefix length, default gateway address, and other information from an IPv6 router.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altLang="en-US" sz="1600" dirty="0"/>
              <a:t>Uses the local </a:t>
            </a:r>
            <a:r>
              <a:rPr lang="fr-FR" altLang="en-US" sz="1600" dirty="0" err="1"/>
              <a:t>router’s</a:t>
            </a:r>
            <a:r>
              <a:rPr lang="fr-FR" altLang="en-US" sz="1600" dirty="0"/>
              <a:t> ICMPv6 Router </a:t>
            </a:r>
            <a:r>
              <a:rPr lang="fr-FR" altLang="en-US" sz="1600" dirty="0" err="1"/>
              <a:t>Advertisement</a:t>
            </a:r>
            <a:r>
              <a:rPr lang="fr-FR" altLang="en-US" sz="1600" dirty="0"/>
              <a:t> (RA) messages</a:t>
            </a:r>
          </a:p>
          <a:p>
            <a:r>
              <a:rPr lang="en-US" altLang="en-US" sz="1700" dirty="0"/>
              <a:t>ICMPv6 RA messages sent every 200 seconds to all IPv6-enabled devices on the network.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altLang="en-US" sz="1400" dirty="0"/>
          </a:p>
        </p:txBody>
      </p:sp>
      <p:pic>
        <p:nvPicPr>
          <p:cNvPr id="3" name="Picture 2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64623" y="794220"/>
            <a:ext cx="5062651" cy="256855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64623" y="3420854"/>
            <a:ext cx="4962293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Option 1 (SLAAC Only) – "I'm everything you need (Prefix, Prefix-length, Default Gateway)"</a:t>
            </a:r>
          </a:p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Option 2 (SLAAC and DHCPv6) – "Here is my information but you need to get other information such as DNS addresses from a DHCPv6 server."</a:t>
            </a:r>
          </a:p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Option 3 (DHCPv6 Only) – "I can’t help you. Ask a DHCPv6 server for all your information."</a:t>
            </a:r>
          </a:p>
        </p:txBody>
      </p:sp>
    </p:spTree>
    <p:extLst>
      <p:ext uri="{BB962C8B-B14F-4D97-AF65-F5344CB8AC3E}">
        <p14:creationId xmlns:p14="http://schemas.microsoft.com/office/powerpoint/2010/main" val="1369656332"/>
      </p:ext>
    </p:ext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Unicast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Dynamic Configuration – DHCPv6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55" y="794220"/>
            <a:ext cx="3931168" cy="3918022"/>
          </a:xfrm>
        </p:spPr>
        <p:txBody>
          <a:bodyPr/>
          <a:lstStyle/>
          <a:p>
            <a:r>
              <a:rPr lang="en-US" altLang="en-US" sz="1600" dirty="0"/>
              <a:t>The RA Option 1: SLAAC only (this is the default) </a:t>
            </a:r>
          </a:p>
          <a:p>
            <a:r>
              <a:rPr lang="en-US" altLang="en-US" sz="1600" dirty="0"/>
              <a:t>RA Option 2: SLAAC and Stateless DHCPv6:</a:t>
            </a:r>
          </a:p>
          <a:p>
            <a:pPr lvl="1"/>
            <a:r>
              <a:rPr lang="en-US" altLang="en-US" dirty="0"/>
              <a:t>Uses SLAAC for IPv6 global unicast address and default gateway.</a:t>
            </a:r>
          </a:p>
          <a:p>
            <a:pPr lvl="1"/>
            <a:r>
              <a:rPr lang="en-US" altLang="en-US" dirty="0"/>
              <a:t>Uses a stateless DHCPv6 server for other information.</a:t>
            </a:r>
          </a:p>
          <a:p>
            <a:r>
              <a:rPr lang="en-US" altLang="en-US" sz="1600" dirty="0"/>
              <a:t>RA Option 3: </a:t>
            </a:r>
            <a:r>
              <a:rPr lang="en-US" altLang="en-US" sz="1600" dirty="0" err="1"/>
              <a:t>Stateful</a:t>
            </a:r>
            <a:r>
              <a:rPr lang="en-US" altLang="en-US" sz="1600" dirty="0"/>
              <a:t> DHCPv6</a:t>
            </a:r>
          </a:p>
          <a:p>
            <a:pPr lvl="1"/>
            <a:r>
              <a:rPr lang="en-US" altLang="en-US" dirty="0"/>
              <a:t>Uses the Routers link-local address for the default gateway.</a:t>
            </a:r>
          </a:p>
          <a:p>
            <a:pPr lvl="1"/>
            <a:r>
              <a:rPr lang="en-US" altLang="en-US" dirty="0"/>
              <a:t>Uses DHCPv6 for all other information.</a:t>
            </a:r>
          </a:p>
          <a:p>
            <a:pPr lvl="1"/>
            <a:endParaRPr lang="en-US" altLang="en-US" sz="1300" dirty="0"/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0253" y="794220"/>
            <a:ext cx="4728117" cy="297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78300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Unicast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EUI-64 Process and Randomly Generated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55" y="794219"/>
            <a:ext cx="4181707" cy="3989653"/>
          </a:xfrm>
        </p:spPr>
        <p:txBody>
          <a:bodyPr/>
          <a:lstStyle/>
          <a:p>
            <a:r>
              <a:rPr lang="en-US" altLang="en-US" sz="1600" dirty="0"/>
              <a:t>When the RA message is SLAAC or SLAAC with stateless DHCPv6, the client must generate its own Interface ID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The Interface ID can be created using the EUI-64 process or a randomly generated 64-bit number</a:t>
            </a:r>
          </a:p>
          <a:p>
            <a:r>
              <a:rPr lang="en-US" altLang="en-US" sz="1600" dirty="0"/>
              <a:t>An EUI-64 Interface ID is represented in binary and is made up of three parts: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24-bit OUI from the client MAC address, but the 7th bit (the Universally/Locally (U/L) bit) is reversed.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The inserted 16-bit value FFFE (in hexadecimal).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24-bit Device Identifier from the client MAC address.</a:t>
            </a:r>
          </a:p>
          <a:p>
            <a:endParaRPr lang="en-US" altLang="en-US" sz="1300" dirty="0"/>
          </a:p>
        </p:txBody>
      </p:sp>
      <p:pic>
        <p:nvPicPr>
          <p:cNvPr id="4" name="Picture 3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15162" y="903247"/>
            <a:ext cx="4864200" cy="335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68757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Unicast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EUI-64 Process and Randomly Generated 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55" y="794219"/>
            <a:ext cx="4817325" cy="3989653"/>
          </a:xfrm>
        </p:spPr>
        <p:txBody>
          <a:bodyPr/>
          <a:lstStyle/>
          <a:p>
            <a:r>
              <a:rPr lang="en-US" altLang="en-US" sz="1800" dirty="0"/>
              <a:t>Randomly Generated Interface IDs</a:t>
            </a:r>
          </a:p>
          <a:p>
            <a:pPr lvl="1"/>
            <a:r>
              <a:rPr lang="en-US" altLang="en-US" dirty="0"/>
              <a:t>Windows uses a randomly generated Interface ID</a:t>
            </a:r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434" y="1661529"/>
            <a:ext cx="7546123" cy="292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644014"/>
      </p:ext>
    </p:ext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Unicast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Dynamic Link-Local Addresses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55" y="794219"/>
            <a:ext cx="9110545" cy="3989653"/>
          </a:xfrm>
        </p:spPr>
        <p:txBody>
          <a:bodyPr/>
          <a:lstStyle/>
          <a:p>
            <a:r>
              <a:rPr lang="en-US" altLang="en-US" sz="1800" dirty="0"/>
              <a:t>Link-local address can be established dynamically or configured manually.</a:t>
            </a:r>
          </a:p>
          <a:p>
            <a:r>
              <a:rPr lang="en-US" altLang="en-US" sz="1600" dirty="0"/>
              <a:t>Cisco IOS routers use EUI-64 to generate the Interface ID for all link-local address on IPv6 interfaces.</a:t>
            </a:r>
          </a:p>
          <a:p>
            <a:r>
              <a:rPr lang="en-US" altLang="en-US" sz="1600" dirty="0"/>
              <a:t>Drawback to using the dynamically assigned link-local address is the long interface ID, therefore they are often configured statically.</a:t>
            </a:r>
          </a:p>
          <a:p>
            <a:endParaRPr lang="en-US" altLang="en-US" dirty="0"/>
          </a:p>
        </p:txBody>
      </p:sp>
      <p:pic>
        <p:nvPicPr>
          <p:cNvPr id="3" name="Picture 2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80623" y="2244181"/>
            <a:ext cx="4750421" cy="270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93211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Unicast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Static Link-Local Addresses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55" y="794219"/>
            <a:ext cx="9110545" cy="3989653"/>
          </a:xfrm>
        </p:spPr>
        <p:txBody>
          <a:bodyPr/>
          <a:lstStyle/>
          <a:p>
            <a:r>
              <a:rPr lang="en-US" altLang="en-US" sz="1800" dirty="0"/>
              <a:t>Manual Configuration of the link-local address allows the creation of a simple, easy to remember address.</a:t>
            </a:r>
          </a:p>
          <a:p>
            <a:endParaRPr lang="en-US" altLang="en-US" dirty="0"/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50741" y="1451409"/>
            <a:ext cx="5207619" cy="317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94715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Unicast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Verifying IPv6 Address Configuration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55" y="794219"/>
            <a:ext cx="9110545" cy="3989653"/>
          </a:xfrm>
        </p:spPr>
        <p:txBody>
          <a:bodyPr/>
          <a:lstStyle/>
          <a:p>
            <a:r>
              <a:rPr lang="en-US" altLang="en-US" sz="1800" dirty="0"/>
              <a:t>The commands to verify IPv6 configuration are similar to IPv4</a:t>
            </a:r>
          </a:p>
          <a:p>
            <a:pPr lvl="1"/>
            <a:r>
              <a:rPr lang="en-US" altLang="en-US" sz="1600" dirty="0"/>
              <a:t>show ipv6 interface brief </a:t>
            </a:r>
          </a:p>
          <a:p>
            <a:pPr lvl="1"/>
            <a:r>
              <a:rPr lang="en-US" altLang="en-US" sz="1600" dirty="0"/>
              <a:t>show ipv6 route</a:t>
            </a:r>
          </a:p>
          <a:p>
            <a:r>
              <a:rPr lang="en-US" altLang="en-US" sz="1800" dirty="0"/>
              <a:t>The ping command for IPv6 is identical to the command used with IPv4, except that an IPv6 address is used.</a:t>
            </a:r>
          </a:p>
          <a:p>
            <a:endParaRPr lang="en-US" altLang="en-US" sz="1800" dirty="0"/>
          </a:p>
          <a:p>
            <a:endParaRPr lang="en-US" altLang="en-US" dirty="0"/>
          </a:p>
        </p:txBody>
      </p:sp>
      <p:pic>
        <p:nvPicPr>
          <p:cNvPr id="3" name="Picture 2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9932" y="2665142"/>
            <a:ext cx="2988527" cy="1784195"/>
          </a:xfrm>
          <a:prstGeom prst="rect">
            <a:avLst/>
          </a:prstGeom>
        </p:spPr>
      </p:pic>
      <p:pic>
        <p:nvPicPr>
          <p:cNvPr id="4" name="Picture 3" descr="Introduction to Networks - Mozilla Firefox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80597" y="2653267"/>
            <a:ext cx="2860772" cy="1984916"/>
          </a:xfrm>
          <a:prstGeom prst="rect">
            <a:avLst/>
          </a:prstGeom>
        </p:spPr>
      </p:pic>
      <p:pic>
        <p:nvPicPr>
          <p:cNvPr id="5" name="Picture 4" descr="Introduction to Networks - Mozilla Firefox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93567" y="2665142"/>
            <a:ext cx="2598234" cy="70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3918"/>
      </p:ext>
    </p:extLst>
  </p:cSld>
  <p:clrMapOvr>
    <a:masterClrMapping/>
  </p:clrMapOvr>
  <p:transition spd="slow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Unicast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Packet Tracer – Configuring IPv6 Addressing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55" y="794219"/>
            <a:ext cx="9110545" cy="3989653"/>
          </a:xfrm>
        </p:spPr>
        <p:txBody>
          <a:bodyPr/>
          <a:lstStyle/>
          <a:p>
            <a:endParaRPr lang="en-US" altLang="en-US" sz="1800" dirty="0"/>
          </a:p>
          <a:p>
            <a:endParaRPr lang="en-US" altLang="en-US" dirty="0"/>
          </a:p>
        </p:txBody>
      </p:sp>
      <p:pic>
        <p:nvPicPr>
          <p:cNvPr id="2" name="Picture 1" descr="7.2.4.9 Packet Tracer - Configuring IPv6 Addressing.pdf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95699" y="960015"/>
            <a:ext cx="3301340" cy="38713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71948" y="973777"/>
            <a:ext cx="3336966" cy="3810095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894733"/>
      </p:ext>
    </p:extLst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Multicast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Assigned IPv6 Multicast Addresses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55" y="794219"/>
            <a:ext cx="4560846" cy="3866991"/>
          </a:xfrm>
        </p:spPr>
        <p:txBody>
          <a:bodyPr/>
          <a:lstStyle/>
          <a:p>
            <a:r>
              <a:rPr lang="en-US" altLang="en-US" sz="1800" dirty="0"/>
              <a:t>There are two types of IPv6 multicast addresses:</a:t>
            </a:r>
          </a:p>
          <a:p>
            <a:pPr lvl="1"/>
            <a:r>
              <a:rPr lang="en-US" altLang="en-US" sz="1600" dirty="0"/>
              <a:t>Assigned multicast - reserved multicast addresses for predefined groups of devices</a:t>
            </a:r>
          </a:p>
          <a:p>
            <a:pPr lvl="1"/>
            <a:r>
              <a:rPr lang="en-US" altLang="en-US" sz="1600" dirty="0"/>
              <a:t>Solicited node multicast</a:t>
            </a:r>
          </a:p>
          <a:p>
            <a:r>
              <a:rPr lang="en-US" altLang="en-US" sz="1800" dirty="0"/>
              <a:t>Two common IPv6 assigned multicast groups:</a:t>
            </a:r>
          </a:p>
          <a:p>
            <a:pPr lvl="1"/>
            <a:r>
              <a:rPr lang="en-US" altLang="en-US" sz="1600" dirty="0"/>
              <a:t>FF02::1 All-nodes multicast group – This is a multicast group that all IPv6-enabled devices join. Similar to a broadcast in IPv4</a:t>
            </a:r>
          </a:p>
          <a:p>
            <a:pPr lvl="1"/>
            <a:r>
              <a:rPr lang="en-US" altLang="en-US" sz="1600" dirty="0"/>
              <a:t>FF02::2 All-routers multicast group – This is a multicast group that all IPv6 routers join.</a:t>
            </a:r>
          </a:p>
        </p:txBody>
      </p:sp>
      <p:pic>
        <p:nvPicPr>
          <p:cNvPr id="5" name="Picture 4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17327" y="794219"/>
            <a:ext cx="4103648" cy="366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984765"/>
      </p:ext>
    </p:extLst>
  </p:cSld>
  <p:clrMapOvr>
    <a:masterClrMapping/>
  </p:clrMapOvr>
  <p:transition spd="slow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IPv6 Multicast Addresses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Solicited-Node IPv6 Multicast Addresses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55" y="794219"/>
            <a:ext cx="4560846" cy="3866991"/>
          </a:xfrm>
        </p:spPr>
        <p:txBody>
          <a:bodyPr/>
          <a:lstStyle/>
          <a:p>
            <a:r>
              <a:rPr lang="en-US" altLang="en-US" sz="1800" dirty="0"/>
              <a:t>Solicited-node multicast address:</a:t>
            </a:r>
          </a:p>
          <a:p>
            <a:pPr lvl="1"/>
            <a:r>
              <a:rPr lang="en-US" altLang="en-US" dirty="0"/>
              <a:t>Mapped to .a special Ethernet multicast address</a:t>
            </a:r>
          </a:p>
          <a:p>
            <a:pPr lvl="1"/>
            <a:r>
              <a:rPr lang="en-US" altLang="en-US" dirty="0"/>
              <a:t>Allows Ethernet NIC to filter frame on destination MAC.</a:t>
            </a:r>
          </a:p>
        </p:txBody>
      </p:sp>
      <p:pic>
        <p:nvPicPr>
          <p:cNvPr id="3" name="Picture 2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60489" y="936702"/>
            <a:ext cx="4683512" cy="389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677781"/>
      </p:ext>
    </p:extLst>
  </p:cSld>
  <p:clrMapOvr>
    <a:masterClrMapping/>
  </p:clrMapOvr>
  <p:transition spd="slow"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sz="4000" dirty="0"/>
              <a:t>7.3 Connectivity Verification</a:t>
            </a:r>
          </a:p>
        </p:txBody>
      </p:sp>
    </p:spTree>
    <p:extLst>
      <p:ext uri="{BB962C8B-B14F-4D97-AF65-F5344CB8AC3E}">
        <p14:creationId xmlns:p14="http://schemas.microsoft.com/office/powerpoint/2010/main" val="3551905410"/>
      </p:ext>
    </p:extLst>
  </p:cSld>
  <p:clrMapOvr>
    <a:masterClrMapping/>
  </p:clrMapOvr>
  <p:transition spd="slow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ICMP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ICMPv4 and ICMPv6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55" y="794219"/>
            <a:ext cx="4560846" cy="3866991"/>
          </a:xfrm>
        </p:spPr>
        <p:txBody>
          <a:bodyPr/>
          <a:lstStyle/>
          <a:p>
            <a:r>
              <a:rPr lang="en-US" altLang="en-US" sz="1800" dirty="0"/>
              <a:t>ICMPv4 is the messaging protocol for IPv4. ICMPv6 provides the same services for IPv6 </a:t>
            </a:r>
          </a:p>
          <a:p>
            <a:r>
              <a:rPr lang="en-US" altLang="en-US" sz="1800" dirty="0"/>
              <a:t>ICMP messages common to both include:</a:t>
            </a:r>
            <a:endParaRPr lang="en-US" altLang="en-US" sz="17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700" dirty="0"/>
              <a:t>Host confirmation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700" dirty="0"/>
              <a:t>Destination or Service Unreachable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700" dirty="0"/>
              <a:t>Time exceeded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700" dirty="0"/>
              <a:t>Route redirection</a:t>
            </a:r>
          </a:p>
          <a:p>
            <a:pPr lvl="1"/>
            <a:endParaRPr lang="en-US" altLang="en-US" sz="1700" dirty="0"/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7146" y="794219"/>
            <a:ext cx="4204009" cy="324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76702"/>
      </p:ext>
    </p:extLst>
  </p:cSld>
  <p:clrMapOvr>
    <a:masterClrMapping/>
  </p:clrMapOvr>
  <p:transition spd="slow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ICMP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ICMPv6 Router Solicitation and Router Advertisement Messages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55" y="794219"/>
            <a:ext cx="4560846" cy="3866991"/>
          </a:xfrm>
        </p:spPr>
        <p:txBody>
          <a:bodyPr/>
          <a:lstStyle/>
          <a:p>
            <a:r>
              <a:rPr lang="en-US" altLang="en-US" sz="1600" dirty="0"/>
              <a:t>ICMPv6 includes four new protocols as part of the Neighbor Discovery Protocol (ND or NDP)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500" dirty="0"/>
              <a:t>Router Solicitation (RS) message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500" dirty="0"/>
              <a:t>Router Advertisement (RA) message</a:t>
            </a:r>
          </a:p>
          <a:p>
            <a:r>
              <a:rPr lang="en-US" altLang="en-US" sz="1600" dirty="0"/>
              <a:t>RA messages used to provide addressing information to hosts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500" dirty="0"/>
              <a:t>Neighbor Solicitation (NS) message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500" dirty="0"/>
              <a:t>Neighbor Advertisement (NA) message</a:t>
            </a:r>
          </a:p>
          <a:p>
            <a:pPr marL="285750" indent="-285750"/>
            <a:r>
              <a:rPr lang="en-US" altLang="en-US" sz="1600" dirty="0"/>
              <a:t>Neighbor Solicitation and Neighbor Advertisement messages are used for Address resolution and Duplicate Address Detection (DAD).</a:t>
            </a:r>
          </a:p>
          <a:p>
            <a:pPr marL="261937" lvl="2" indent="0">
              <a:buNone/>
            </a:pPr>
            <a:endParaRPr lang="en-US" altLang="en-US" sz="1500" dirty="0"/>
          </a:p>
        </p:txBody>
      </p:sp>
      <p:pic>
        <p:nvPicPr>
          <p:cNvPr id="3" name="Picture 2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83511" y="993059"/>
            <a:ext cx="4050890" cy="1520033"/>
          </a:xfrm>
          <a:prstGeom prst="rect">
            <a:avLst/>
          </a:prstGeom>
        </p:spPr>
      </p:pic>
      <p:pic>
        <p:nvPicPr>
          <p:cNvPr id="4" name="Picture 3" descr="Introduction to Networks - Mozilla Firefox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83512" y="2707207"/>
            <a:ext cx="4050890" cy="184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086253"/>
      </p:ext>
    </p:extLst>
  </p:cSld>
  <p:clrMapOvr>
    <a:masterClrMapping/>
  </p:clrMapOvr>
  <p:transition spd="slow"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Testing and Verification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Ping - Testing the Local Stack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63844" y="798944"/>
            <a:ext cx="4495979" cy="3866991"/>
          </a:xfrm>
        </p:spPr>
        <p:txBody>
          <a:bodyPr/>
          <a:lstStyle/>
          <a:p>
            <a:r>
              <a:rPr lang="en-US" altLang="en-US" sz="1800" dirty="0"/>
              <a:t>Ping the local loopback address of 127.0.0.1 for IPv4  or ::1 for IPv6 to verify that IP is properly installed on the host.</a:t>
            </a:r>
          </a:p>
          <a:p>
            <a:endParaRPr lang="en-US" altLang="en-US" sz="1500" dirty="0"/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057" y="918387"/>
            <a:ext cx="4286865" cy="362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19070"/>
      </p:ext>
    </p:extLst>
  </p:cSld>
  <p:clrMapOvr>
    <a:masterClrMapping/>
  </p:clrMapOvr>
  <p:transition spd="slow">
    <p:wip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4"/>
            <a:ext cx="9144000" cy="757551"/>
          </a:xfrm>
        </p:spPr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Testing and Verification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Ping – Testing Connectivity to the Local LAN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86632" y="920165"/>
            <a:ext cx="4171513" cy="3053524"/>
          </a:xfrm>
        </p:spPr>
        <p:txBody>
          <a:bodyPr/>
          <a:lstStyle/>
          <a:p>
            <a:r>
              <a:rPr lang="en-US" altLang="en-US" sz="1600" dirty="0"/>
              <a:t> </a:t>
            </a:r>
            <a:r>
              <a:rPr lang="en-US" altLang="en-US" sz="1800" dirty="0"/>
              <a:t>Use ping to test the ability of a host to communicate on the local network.</a:t>
            </a:r>
          </a:p>
        </p:txBody>
      </p:sp>
      <p:pic>
        <p:nvPicPr>
          <p:cNvPr id="5" name="Picture 4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6142" y="988991"/>
            <a:ext cx="4481380" cy="363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59133"/>
      </p:ext>
    </p:extLst>
  </p:cSld>
  <p:clrMapOvr>
    <a:masterClrMapping/>
  </p:clrMapOvr>
  <p:transition spd="slow">
    <p:wip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4"/>
            <a:ext cx="9144000" cy="757551"/>
          </a:xfrm>
        </p:spPr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Testing and Verification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Ping – Testing Connectivity to a Remote Host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86632" y="920165"/>
            <a:ext cx="4171513" cy="3053524"/>
          </a:xfrm>
        </p:spPr>
        <p:txBody>
          <a:bodyPr/>
          <a:lstStyle/>
          <a:p>
            <a:r>
              <a:rPr lang="en-US" altLang="en-US" sz="1600" dirty="0"/>
              <a:t> </a:t>
            </a:r>
            <a:r>
              <a:rPr lang="en-US" altLang="en-US" sz="1800" dirty="0"/>
              <a:t>Use ping to test the ability of a host to communicate across an internetwork.</a:t>
            </a:r>
          </a:p>
        </p:txBody>
      </p:sp>
      <p:pic>
        <p:nvPicPr>
          <p:cNvPr id="2" name="Picture 1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00" y="920165"/>
            <a:ext cx="4444181" cy="332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99869"/>
      </p:ext>
    </p:extLst>
  </p:cSld>
  <p:clrMapOvr>
    <a:masterClrMapping/>
  </p:clrMapOvr>
  <p:transition spd="slow">
    <p:wip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4"/>
            <a:ext cx="9144000" cy="757551"/>
          </a:xfrm>
        </p:spPr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Testing and Verification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Traceroute – Testing the Path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525" y="925929"/>
            <a:ext cx="4171513" cy="3053524"/>
          </a:xfrm>
        </p:spPr>
        <p:txBody>
          <a:bodyPr/>
          <a:lstStyle/>
          <a:p>
            <a:r>
              <a:rPr lang="en-US" altLang="en-US" sz="1800" dirty="0"/>
              <a:t>Traceroute (</a:t>
            </a:r>
            <a:r>
              <a:rPr lang="en-US" altLang="en-US" sz="1800" dirty="0" err="1"/>
              <a:t>tracert</a:t>
            </a:r>
            <a:r>
              <a:rPr lang="en-US" altLang="en-US" sz="1800" dirty="0"/>
              <a:t>) is a utility that generates a list of hops that were successfully reached along the path. </a:t>
            </a:r>
          </a:p>
          <a:p>
            <a:pPr lvl="1"/>
            <a:r>
              <a:rPr lang="en-US" altLang="en-US" sz="1600" dirty="0"/>
              <a:t>Round Trip Time (RTT) – Time it takes  the packet to reach the remote host and for the response from the host to return.</a:t>
            </a:r>
          </a:p>
          <a:p>
            <a:pPr lvl="1"/>
            <a:r>
              <a:rPr lang="en-US" altLang="en-US" sz="1600" dirty="0"/>
              <a:t>Asterisk (*) is used to indicate a lost packet.</a:t>
            </a:r>
          </a:p>
          <a:p>
            <a:pPr lvl="1"/>
            <a:endParaRPr lang="en-US" altLang="en-US" sz="1700" dirty="0"/>
          </a:p>
        </p:txBody>
      </p:sp>
      <p:pic>
        <p:nvPicPr>
          <p:cNvPr id="3" name="Picture 2" descr="Introduction to Networks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18038" y="900500"/>
            <a:ext cx="4925962" cy="329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50014"/>
      </p:ext>
    </p:extLst>
  </p:cSld>
  <p:clrMapOvr>
    <a:masterClrMapping/>
  </p:clrMapOvr>
  <p:transition spd="slow">
    <p:wip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4"/>
            <a:ext cx="9144000" cy="757551"/>
          </a:xfrm>
        </p:spPr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Testing and Verification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Packet Tracer – Verifying IPv4 and IPv6 Addressing</a:t>
            </a:r>
          </a:p>
        </p:txBody>
      </p:sp>
      <p:pic>
        <p:nvPicPr>
          <p:cNvPr id="6" name="Content Placeholder 5" descr="7.3.2.5 Packet Tracer - Verifying IPv4 and IPv6 Addressing.pdf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53529" y="904568"/>
            <a:ext cx="3684322" cy="3647767"/>
          </a:xfrm>
        </p:spPr>
      </p:pic>
      <p:sp>
        <p:nvSpPr>
          <p:cNvPr id="7" name="Rectangle 6"/>
          <p:cNvSpPr/>
          <p:nvPr/>
        </p:nvSpPr>
        <p:spPr>
          <a:xfrm>
            <a:off x="2556387" y="884903"/>
            <a:ext cx="3687097" cy="3716594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480001"/>
      </p:ext>
    </p:extLst>
  </p:cSld>
  <p:clrMapOvr>
    <a:masterClrMapping/>
  </p:clrMapOvr>
  <p:transition spd="slow">
    <p:wip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4"/>
            <a:ext cx="9144000" cy="757551"/>
          </a:xfrm>
        </p:spPr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Testing and Verification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Packet Tracer – Pinging and Tracing to Test the Path</a:t>
            </a:r>
          </a:p>
        </p:txBody>
      </p:sp>
      <p:pic>
        <p:nvPicPr>
          <p:cNvPr id="3" name="Content Placeholder 2" descr="7.3.2.6 Packet Tracer - Pinging and Tracing to Test the Path.pdf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56387" y="884903"/>
            <a:ext cx="3756343" cy="3716594"/>
          </a:xfrm>
        </p:spPr>
      </p:pic>
      <p:sp>
        <p:nvSpPr>
          <p:cNvPr id="7" name="Rectangle 6"/>
          <p:cNvSpPr/>
          <p:nvPr/>
        </p:nvSpPr>
        <p:spPr>
          <a:xfrm>
            <a:off x="2556387" y="884903"/>
            <a:ext cx="3687097" cy="3716594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352116"/>
      </p:ext>
    </p:extLst>
  </p:cSld>
  <p:clrMapOvr>
    <a:masterClrMapping/>
  </p:clrMapOvr>
  <p:transition spd="slow">
    <p:wip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4"/>
            <a:ext cx="9144000" cy="757551"/>
          </a:xfrm>
        </p:spPr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Testing and Verification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Lab – Testing Network Connectivity with Ping and Traceroute</a:t>
            </a:r>
          </a:p>
        </p:txBody>
      </p:sp>
      <p:pic>
        <p:nvPicPr>
          <p:cNvPr id="3" name="Content Placeholder 2" descr="7.3.2.6 Packet Tracer - Pinging and Tracing to Test the Path.pdf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56387" y="884903"/>
            <a:ext cx="3756343" cy="3716594"/>
          </a:xfrm>
        </p:spPr>
      </p:pic>
      <p:sp>
        <p:nvSpPr>
          <p:cNvPr id="7" name="Rectangle 6"/>
          <p:cNvSpPr/>
          <p:nvPr/>
        </p:nvSpPr>
        <p:spPr>
          <a:xfrm>
            <a:off x="2556387" y="884903"/>
            <a:ext cx="3687097" cy="3716594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216911"/>
      </p:ext>
    </p:extLst>
  </p:cSld>
  <p:clrMapOvr>
    <a:masterClrMapping/>
  </p:clrMapOvr>
  <p:transition spd="slow">
    <p:wip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7.3.2.8 Lab - Mapping the Internet.pdf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56388" y="798945"/>
            <a:ext cx="3734188" cy="3802552"/>
          </a:xfrm>
        </p:spPr>
      </p:pic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4"/>
            <a:ext cx="9144000" cy="757551"/>
          </a:xfrm>
        </p:spPr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Testing and Verification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Lab – Mapping the Internet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56387" y="884903"/>
            <a:ext cx="3687097" cy="3716594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438915"/>
      </p:ext>
    </p:extLst>
  </p:cSld>
  <p:clrMapOvr>
    <a:masterClrMapping/>
  </p:clrMapOvr>
  <p:transition spd="slow">
    <p:wip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4"/>
            <a:ext cx="9144000" cy="757551"/>
          </a:xfrm>
        </p:spPr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Testing and Verification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Packet Tracer – Troubleshooting IPv4 and IPv6 Addressing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56387" y="884903"/>
            <a:ext cx="3687097" cy="3716594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Content Placeholder 2" descr="7.3.2.9 Packet Tracer - Troubleshooting IPv4 and IPv6 Addressing.pdf - Mozilla Firefox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65728" y="983734"/>
            <a:ext cx="3468414" cy="3518931"/>
          </a:xfrm>
        </p:spPr>
      </p:pic>
    </p:spTree>
    <p:extLst>
      <p:ext uri="{BB962C8B-B14F-4D97-AF65-F5344CB8AC3E}">
        <p14:creationId xmlns:p14="http://schemas.microsoft.com/office/powerpoint/2010/main" val="3350340218"/>
      </p:ext>
    </p:extLst>
  </p:cSld>
  <p:clrMapOvr>
    <a:masterClrMapping/>
  </p:clrMapOvr>
  <p:transition spd="slow">
    <p:wip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/>
              <a:t>7.4 Chapter Summary</a:t>
            </a:r>
          </a:p>
        </p:txBody>
      </p:sp>
    </p:spTree>
    <p:extLst>
      <p:ext uri="{BB962C8B-B14F-4D97-AF65-F5344CB8AC3E}">
        <p14:creationId xmlns:p14="http://schemas.microsoft.com/office/powerpoint/2010/main" val="3886944279"/>
      </p:ext>
    </p:extLst>
  </p:cSld>
  <p:clrMapOvr>
    <a:masterClrMapping/>
  </p:clrMapOvr>
  <p:transition spd="slow">
    <p:wip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.4.1.2 Packet Tracer - Skills Integration Challenge.pdf - Mozilla Firefox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59958" y="939201"/>
            <a:ext cx="4139732" cy="3958620"/>
          </a:xfrm>
          <a:prstGeom prst="rect">
            <a:avLst/>
          </a:prstGeom>
        </p:spPr>
      </p:pic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4"/>
            <a:ext cx="9144000" cy="757551"/>
          </a:xfrm>
        </p:spPr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Conclusion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sv-SE" altLang="en-US" dirty="0">
                <a:solidFill>
                  <a:srgbClr val="367187"/>
                </a:solidFill>
              </a:rPr>
              <a:t>Packet Tracer – Skills Integration Challenge</a:t>
            </a:r>
            <a:endParaRPr lang="en-US" altLang="en-US" dirty="0">
              <a:solidFill>
                <a:srgbClr val="36718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17683" y="939201"/>
            <a:ext cx="3867807" cy="3580247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05969"/>
      </p:ext>
    </p:extLst>
  </p:cSld>
  <p:clrMapOvr>
    <a:masterClrMapping/>
  </p:clrMapOvr>
  <p:transition spd="slow">
    <p:wip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786"/>
            <a:ext cx="9144000" cy="757551"/>
          </a:xfrm>
        </p:spPr>
        <p:txBody>
          <a:bodyPr/>
          <a:lstStyle/>
          <a:p>
            <a:r>
              <a:rPr lang="en-US" altLang="en-US" sz="1600" dirty="0">
                <a:solidFill>
                  <a:srgbClr val="367187"/>
                </a:solidFill>
              </a:rPr>
              <a:t>Conclusion</a:t>
            </a:r>
            <a:br>
              <a:rPr lang="en-US" altLang="en-US" dirty="0">
                <a:solidFill>
                  <a:srgbClr val="367187"/>
                </a:solidFill>
              </a:rPr>
            </a:br>
            <a:r>
              <a:rPr lang="en-US" altLang="en-US" dirty="0">
                <a:solidFill>
                  <a:srgbClr val="367187"/>
                </a:solidFill>
              </a:rPr>
              <a:t>Chapter 7: IP Addressing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446" y="784337"/>
            <a:ext cx="7336899" cy="3053524"/>
          </a:xfrm>
        </p:spPr>
        <p:txBody>
          <a:bodyPr/>
          <a:lstStyle/>
          <a:p>
            <a:r>
              <a:rPr lang="en-US" altLang="en-US" sz="1800" dirty="0"/>
              <a:t>Explain the use of IPv4 addresses to provide connectivity in small to medium-sized business networks</a:t>
            </a:r>
          </a:p>
          <a:p>
            <a:r>
              <a:rPr lang="en-US" altLang="en-US" sz="1800" dirty="0"/>
              <a:t>Configure IPv6 addresses to provide connectivity in small to medium-sized business networks.</a:t>
            </a:r>
          </a:p>
          <a:p>
            <a:r>
              <a:rPr lang="en-US" altLang="en-US" sz="1800" dirty="0"/>
              <a:t>Use common testing utilities to verify and test network connectivity.</a:t>
            </a:r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249629339"/>
      </p:ext>
    </p:extLst>
  </p:cSld>
  <p:clrMapOvr>
    <a:masterClrMapping/>
  </p:clrMapOvr>
  <p:transition spd="slow">
    <p:wip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7159</TotalTime>
  <Words>4477</Words>
  <Application>Microsoft Office PowerPoint</Application>
  <PresentationFormat>On-screen Show (16:9)</PresentationFormat>
  <Paragraphs>581</Paragraphs>
  <Slides>71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6" baseType="lpstr">
      <vt:lpstr>Arial</vt:lpstr>
      <vt:lpstr>Calibri</vt:lpstr>
      <vt:lpstr>CiscoSans ExtraLight</vt:lpstr>
      <vt:lpstr>Wingdings</vt:lpstr>
      <vt:lpstr>Default Theme</vt:lpstr>
      <vt:lpstr>Chapter 7: IP Addressing</vt:lpstr>
      <vt:lpstr>Chapter 7 - Sections &amp; Objectives</vt:lpstr>
      <vt:lpstr>Chapter 7 - Sections &amp; Objectives (Cont.)</vt:lpstr>
      <vt:lpstr>7.1 IPv4 Network Addresses</vt:lpstr>
      <vt:lpstr>Binary and Decimal Conversion IPv4 Addresses</vt:lpstr>
      <vt:lpstr>Binary and Decimal Conversion IPv4 Addresses (Cont.)</vt:lpstr>
      <vt:lpstr>Binary and Decimal Conversation Video Demonstration – Converting Between Binary and Decimal Numbering Systems</vt:lpstr>
      <vt:lpstr>Binary and Decimal Conversion Positional Notation</vt:lpstr>
      <vt:lpstr>Binary and Decimal Conversion Positional Notation (Cont.)</vt:lpstr>
      <vt:lpstr>Binary and Decimal Conversion Binary to Decimal Conversion</vt:lpstr>
      <vt:lpstr>Binary and Decimal Conversion Decimal to Binary Conversion</vt:lpstr>
      <vt:lpstr>Binary and Decimal Conversion Decimal to Binary Conversion Examples</vt:lpstr>
      <vt:lpstr>IPv4 Address Structure Network and Host Portions</vt:lpstr>
      <vt:lpstr>IPv4 Address Structure The Subnet Mask</vt:lpstr>
      <vt:lpstr>IPv4 Address Structure The Subnet Mask (Cont.)</vt:lpstr>
      <vt:lpstr>IPv4 Address Structure Logical AND</vt:lpstr>
      <vt:lpstr>IPv4 Address Structure The Prefix Length</vt:lpstr>
      <vt:lpstr>IPv4 Address Structure Network, Host, and Broadcast Addresses</vt:lpstr>
      <vt:lpstr>IPv4 Unicast, Broadcast, and Multicast Static IPv4 Address Assignment to a Host</vt:lpstr>
      <vt:lpstr>IPv4 Unicast, Broadcast, and Multicast Dynamic IPv4 Address Assignment to a Host</vt:lpstr>
      <vt:lpstr>IPv4 Unicast, Broadcast, and Multicast IPv4 Communication</vt:lpstr>
      <vt:lpstr>IPv4 Unicast, Broadcast, and Multicast Unicast Transmission</vt:lpstr>
      <vt:lpstr>IPv4 Unicast, Broadcast, and Multicast Broadcast Transmission</vt:lpstr>
      <vt:lpstr>IPv4 Unicast, Broadcast, and Multicast Multicast Transmission</vt:lpstr>
      <vt:lpstr>Types of IPv4 Addresses Public and Private IPv4 Addresses</vt:lpstr>
      <vt:lpstr>Types of IPv4 Addresses Special User IPv4 Addresses</vt:lpstr>
      <vt:lpstr>Types of IPv4 Addresses Legacy Classful Addressing</vt:lpstr>
      <vt:lpstr>Types of IPv4 Addresses Video Demonstration - Classful IPv4 Addressing</vt:lpstr>
      <vt:lpstr>Types of IPv4 Addresses Classless Addressing</vt:lpstr>
      <vt:lpstr>Types of IPv4 Addresses Assignment of IP Addresses</vt:lpstr>
      <vt:lpstr>7.2 IPv6 Network Addresses</vt:lpstr>
      <vt:lpstr>IPv4 Issues The Need for IPv6</vt:lpstr>
      <vt:lpstr>IPv4 Issues IPv4 and IPv6 Coexistence</vt:lpstr>
      <vt:lpstr>IPv6 Addressing IPv6 Address Representation</vt:lpstr>
      <vt:lpstr>IPv6 Addressing IPv6 Address Representation (Cont.)</vt:lpstr>
      <vt:lpstr>IPv6 Addressing Rule 1 – Omit Leading 0s</vt:lpstr>
      <vt:lpstr>IPv6 Addressing Rule 2 – Omit All 0 Segments</vt:lpstr>
      <vt:lpstr>IPv6 Addressing Rule 2 – Omit All 0 Segments (Cont.)</vt:lpstr>
      <vt:lpstr>Types of IPv6 Addresses IPv6 Address Types</vt:lpstr>
      <vt:lpstr>Types of IPv6 Addresses IPv6 Prefix Length</vt:lpstr>
      <vt:lpstr>Types of IPv6 Addresses IPv6 Unicast Addresses</vt:lpstr>
      <vt:lpstr>Types of IPv6 Addresses IPv6 Link-Local Unicast Addresses</vt:lpstr>
      <vt:lpstr>IPv6 Unicast Addresses Structure of an IPv6 Global Unicast Address</vt:lpstr>
      <vt:lpstr>IPv6 Unicast Addresses Static Configuration of a Global Unicast Address</vt:lpstr>
      <vt:lpstr>IPv6 Unicast Addresses Static Configuration of a Global Unicast Address (Cont.)</vt:lpstr>
      <vt:lpstr>IPv6 Unicast Addresses Dynamic Configuration - SLAAC</vt:lpstr>
      <vt:lpstr>IPv6 Unicast Addresses Dynamic Configuration – DHCPv6</vt:lpstr>
      <vt:lpstr>IPv6 Unicast Addresses EUI-64 Process and Randomly Generated</vt:lpstr>
      <vt:lpstr>IPv6 Unicast Addresses EUI-64 Process and Randomly Generated (Cont.)</vt:lpstr>
      <vt:lpstr>IPv6 Unicast Addresses Dynamic Link-Local Addresses</vt:lpstr>
      <vt:lpstr>IPv6 Unicast Addresses Static Link-Local Addresses</vt:lpstr>
      <vt:lpstr>IPv6 Unicast Addresses Verifying IPv6 Address Configuration</vt:lpstr>
      <vt:lpstr>IPv6 Unicast Addresses Packet Tracer – Configuring IPv6 Addressing</vt:lpstr>
      <vt:lpstr>IPv6 Multicast Addresses Assigned IPv6 Multicast Addresses</vt:lpstr>
      <vt:lpstr>IPv6 Multicast Addresses Solicited-Node IPv6 Multicast Addresses</vt:lpstr>
      <vt:lpstr>7.3 Connectivity Verification</vt:lpstr>
      <vt:lpstr>ICMP ICMPv4 and ICMPv6</vt:lpstr>
      <vt:lpstr>ICMP ICMPv6 Router Solicitation and Router Advertisement Messages</vt:lpstr>
      <vt:lpstr>Testing and Verification Ping - Testing the Local Stack</vt:lpstr>
      <vt:lpstr>Testing and Verification Ping – Testing Connectivity to the Local LAN</vt:lpstr>
      <vt:lpstr>Testing and Verification Ping – Testing Connectivity to a Remote Host</vt:lpstr>
      <vt:lpstr>Testing and Verification Traceroute – Testing the Path</vt:lpstr>
      <vt:lpstr>Testing and Verification Packet Tracer – Verifying IPv4 and IPv6 Addressing</vt:lpstr>
      <vt:lpstr>Testing and Verification Packet Tracer – Pinging and Tracing to Test the Path</vt:lpstr>
      <vt:lpstr>Testing and Verification Lab – Testing Network Connectivity with Ping and Traceroute</vt:lpstr>
      <vt:lpstr>Testing and Verification Lab – Mapping the Internet</vt:lpstr>
      <vt:lpstr>Testing and Verification Packet Tracer – Troubleshooting IPv4 and IPv6 Addressing</vt:lpstr>
      <vt:lpstr>7.4 Chapter Summary</vt:lpstr>
      <vt:lpstr>Conclusion Packet Tracer – Skills Integration Challenge</vt:lpstr>
      <vt:lpstr>Conclusion Chapter 7: IP Addressing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ศรายุทธ ธเนศสกุลวัฒนา</cp:lastModifiedBy>
  <cp:revision>442</cp:revision>
  <dcterms:created xsi:type="dcterms:W3CDTF">2016-08-22T22:27:36Z</dcterms:created>
  <dcterms:modified xsi:type="dcterms:W3CDTF">2020-01-08T02:20:39Z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</Properties>
</file>