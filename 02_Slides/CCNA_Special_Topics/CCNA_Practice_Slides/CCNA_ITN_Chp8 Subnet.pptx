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60"/>
  </p:notesMasterIdLst>
  <p:sldIdLst>
    <p:sldId id="758" r:id="rId2"/>
    <p:sldId id="760" r:id="rId3"/>
    <p:sldId id="833" r:id="rId4"/>
    <p:sldId id="759" r:id="rId5"/>
    <p:sldId id="628" r:id="rId6"/>
    <p:sldId id="834" r:id="rId7"/>
    <p:sldId id="835" r:id="rId8"/>
    <p:sldId id="633" r:id="rId9"/>
    <p:sldId id="641" r:id="rId10"/>
    <p:sldId id="865" r:id="rId11"/>
    <p:sldId id="836" r:id="rId12"/>
    <p:sldId id="837" r:id="rId13"/>
    <p:sldId id="866" r:id="rId14"/>
    <p:sldId id="839" r:id="rId15"/>
    <p:sldId id="867" r:id="rId16"/>
    <p:sldId id="868" r:id="rId17"/>
    <p:sldId id="645" r:id="rId18"/>
    <p:sldId id="840" r:id="rId19"/>
    <p:sldId id="838" r:id="rId20"/>
    <p:sldId id="649" r:id="rId21"/>
    <p:sldId id="869" r:id="rId22"/>
    <p:sldId id="841" r:id="rId23"/>
    <p:sldId id="870" r:id="rId24"/>
    <p:sldId id="871" r:id="rId25"/>
    <p:sldId id="842" r:id="rId26"/>
    <p:sldId id="843" r:id="rId27"/>
    <p:sldId id="778" r:id="rId28"/>
    <p:sldId id="844" r:id="rId29"/>
    <p:sldId id="845" r:id="rId30"/>
    <p:sldId id="653" r:id="rId31"/>
    <p:sldId id="846" r:id="rId32"/>
    <p:sldId id="872" r:id="rId33"/>
    <p:sldId id="873" r:id="rId34"/>
    <p:sldId id="847" r:id="rId35"/>
    <p:sldId id="848" r:id="rId36"/>
    <p:sldId id="849" r:id="rId37"/>
    <p:sldId id="875" r:id="rId38"/>
    <p:sldId id="658" r:id="rId39"/>
    <p:sldId id="853" r:id="rId40"/>
    <p:sldId id="854" r:id="rId41"/>
    <p:sldId id="779" r:id="rId42"/>
    <p:sldId id="855" r:id="rId43"/>
    <p:sldId id="857" r:id="rId44"/>
    <p:sldId id="856" r:id="rId45"/>
    <p:sldId id="762" r:id="rId46"/>
    <p:sldId id="780" r:id="rId47"/>
    <p:sldId id="858" r:id="rId48"/>
    <p:sldId id="859" r:id="rId49"/>
    <p:sldId id="861" r:id="rId50"/>
    <p:sldId id="655" r:id="rId51"/>
    <p:sldId id="862" r:id="rId52"/>
    <p:sldId id="863" r:id="rId53"/>
    <p:sldId id="864" r:id="rId54"/>
    <p:sldId id="771" r:id="rId55"/>
    <p:sldId id="823" r:id="rId56"/>
    <p:sldId id="765" r:id="rId57"/>
    <p:sldId id="766" r:id="rId58"/>
    <p:sldId id="291" r:id="rId59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5" autoAdjust="0"/>
    <p:restoredTop sz="81025" autoAdjust="0"/>
  </p:normalViewPr>
  <p:slideViewPr>
    <p:cSldViewPr snapToGrid="0" showGuides="1">
      <p:cViewPr varScale="1">
        <p:scale>
          <a:sx n="91" d="100"/>
          <a:sy n="91" d="100"/>
        </p:scale>
        <p:origin x="1272" y="72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12/23/2019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</a:t>
            </a:r>
            <a:r>
              <a:rPr lang="en-US" b="0" baseline="0" dirty="0"/>
              <a:t> v6.0</a:t>
            </a:r>
            <a:endParaRPr lang="en-US" b="0" dirty="0"/>
          </a:p>
          <a:p>
            <a:pPr>
              <a:buFontTx/>
              <a:buNone/>
            </a:pPr>
            <a:r>
              <a:rPr lang="en-US" sz="1200" b="0" dirty="0"/>
              <a:t>Chapter 8: </a:t>
            </a:r>
            <a:r>
              <a:rPr lang="en-US" sz="1200" b="0" dirty="0" err="1"/>
              <a:t>Subnetting</a:t>
            </a:r>
            <a:r>
              <a:rPr lang="en-US" sz="1200" b="0" dirty="0"/>
              <a:t> IP Networks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</a:t>
            </a:r>
            <a:r>
              <a:rPr lang="en-US" b="0" baseline="0" dirty="0"/>
              <a:t> v6.0</a:t>
            </a:r>
            <a:endParaRPr lang="en-US" b="0" dirty="0"/>
          </a:p>
          <a:p>
            <a:pPr>
              <a:buFontTx/>
              <a:buNone/>
            </a:pPr>
            <a:r>
              <a:rPr lang="en-US" sz="1200" b="0" dirty="0"/>
              <a:t>Chapter 8: </a:t>
            </a:r>
            <a:r>
              <a:rPr lang="en-US" sz="1200" b="0" dirty="0" err="1"/>
              <a:t>Subnetting</a:t>
            </a:r>
            <a:r>
              <a:rPr lang="en-US" sz="1200" b="0" dirty="0"/>
              <a:t> IP Networks</a:t>
            </a:r>
            <a:endParaRPr lang="en-GB" b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752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3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</a:t>
            </a:r>
            <a:r>
              <a:rPr lang="en-US" b="0" baseline="0" dirty="0"/>
              <a:t> v6.0</a:t>
            </a:r>
            <a:endParaRPr lang="en-US" b="0" dirty="0"/>
          </a:p>
          <a:p>
            <a:pPr>
              <a:buFontTx/>
              <a:buNone/>
            </a:pPr>
            <a:r>
              <a:rPr lang="en-US" sz="1200" b="0" dirty="0"/>
              <a:t>Chapter 8: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IP Networks</a:t>
            </a:r>
            <a:endParaRPr lang="en-GB" b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864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 – </a:t>
            </a:r>
            <a:r>
              <a:rPr lang="en-US" sz="1200" b="0" dirty="0" err="1"/>
              <a:t>Subnetting</a:t>
            </a:r>
            <a:r>
              <a:rPr lang="en-US" sz="1200" b="0" dirty="0"/>
              <a:t> IP</a:t>
            </a:r>
            <a:r>
              <a:rPr lang="en-US" sz="1200" b="0" baseline="0" dirty="0"/>
              <a:t> Networks</a:t>
            </a:r>
            <a:endParaRPr lang="en-US" sz="1200" b="0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GB" b="0" dirty="0">
                <a:latin typeface="Arial" charset="0"/>
              </a:rPr>
              <a:t>8.1.1 –</a:t>
            </a:r>
            <a:r>
              <a:rPr lang="en-GB" b="0" baseline="0" dirty="0">
                <a:latin typeface="Arial" charset="0"/>
              </a:rPr>
              <a:t> Network Segmentation</a:t>
            </a:r>
            <a:endParaRPr lang="en-GB" b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8.1.1.1</a:t>
            </a:r>
            <a:r>
              <a:rPr lang="en-US" baseline="0" dirty="0">
                <a:latin typeface="Arial" charset="0"/>
              </a:rPr>
              <a:t> – Broadcast Domains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b="0" dirty="0"/>
              <a:t>8.1.1 – </a:t>
            </a:r>
            <a:r>
              <a:rPr lang="en-GB" b="0" baseline="0" dirty="0">
                <a:latin typeface="Arial" charset="0"/>
              </a:rPr>
              <a:t>Network Segmentation</a:t>
            </a:r>
            <a:endParaRPr lang="en-GB" b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8.1.1.2</a:t>
            </a:r>
            <a:r>
              <a:rPr lang="en-US" baseline="0" dirty="0">
                <a:latin typeface="Arial" charset="0"/>
              </a:rPr>
              <a:t> – Problems with Large Broadcast Domains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4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b="0" dirty="0"/>
              <a:t>8.1.1 – </a:t>
            </a:r>
            <a:r>
              <a:rPr lang="en-GB" b="0" baseline="0" dirty="0">
                <a:latin typeface="Arial" charset="0"/>
              </a:rPr>
              <a:t>Network Segmentation</a:t>
            </a:r>
            <a:endParaRPr lang="en-GB" b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8.1.1.2</a:t>
            </a:r>
            <a:r>
              <a:rPr lang="en-US" baseline="0" dirty="0">
                <a:latin typeface="Arial" charset="0"/>
              </a:rPr>
              <a:t> – Reasons for </a:t>
            </a:r>
            <a:r>
              <a:rPr lang="en-US" baseline="0" dirty="0" err="1">
                <a:latin typeface="Arial" charset="0"/>
              </a:rPr>
              <a:t>Subnetting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232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8.1.2.1</a:t>
            </a:r>
            <a:r>
              <a:rPr lang="en-US" baseline="0" dirty="0">
                <a:latin typeface="Arial" charset="0"/>
              </a:rPr>
              <a:t> – Octet Boundaries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8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8.1.2.2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on the Octet Boundary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47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8.1.2.2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on the Octet Boundary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88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8.1.2.3</a:t>
            </a:r>
            <a:r>
              <a:rPr lang="en-US" baseline="0" dirty="0">
                <a:latin typeface="Arial" charset="0"/>
              </a:rPr>
              <a:t> – Classless </a:t>
            </a:r>
            <a:r>
              <a:rPr lang="en-US" baseline="0" dirty="0" err="1">
                <a:latin typeface="Arial" charset="0"/>
              </a:rPr>
              <a:t>Subnetting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54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8.1.2.4</a:t>
            </a:r>
            <a:r>
              <a:rPr lang="en-US" baseline="0" dirty="0">
                <a:latin typeface="Arial" charset="0"/>
              </a:rPr>
              <a:t> – Video – The Subnet 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147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8.1.2.4</a:t>
            </a:r>
            <a:r>
              <a:rPr lang="en-US" baseline="0" dirty="0">
                <a:latin typeface="Arial" charset="0"/>
              </a:rPr>
              <a:t> – Video – The Subnet 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3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8.1.2.5</a:t>
            </a:r>
            <a:r>
              <a:rPr lang="en-US" baseline="0" dirty="0">
                <a:latin typeface="Arial" charset="0"/>
              </a:rPr>
              <a:t> – Video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with the Magic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388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8.1.2.5</a:t>
            </a:r>
            <a:r>
              <a:rPr lang="en-US" baseline="0" dirty="0">
                <a:latin typeface="Arial" charset="0"/>
              </a:rPr>
              <a:t> – Video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with the Magic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85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8.1.2.5</a:t>
            </a:r>
            <a:r>
              <a:rPr lang="en-US" baseline="0" dirty="0">
                <a:latin typeface="Arial" charset="0"/>
              </a:rPr>
              <a:t> – Video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with the Magic 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90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8.1.2.6</a:t>
            </a:r>
            <a:r>
              <a:rPr lang="en-US" baseline="0" dirty="0">
                <a:latin typeface="Arial" charset="0"/>
              </a:rPr>
              <a:t> – Classless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091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8.1.2.7</a:t>
            </a:r>
            <a:r>
              <a:rPr lang="en-US" baseline="0" dirty="0">
                <a:latin typeface="Arial" charset="0"/>
              </a:rPr>
              <a:t> – Creating 2 Subnets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79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8.1.2.8</a:t>
            </a:r>
            <a:r>
              <a:rPr lang="en-US" baseline="0" dirty="0">
                <a:latin typeface="Arial" charset="0"/>
              </a:rPr>
              <a:t> – Video Demonstration – Creating Two Equal-sized Subnets (/25)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748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8.1.2.9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Formulas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389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8.1.2.9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Formulas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62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22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8.1.2.10</a:t>
            </a:r>
            <a:r>
              <a:rPr lang="en-US" baseline="0" dirty="0">
                <a:latin typeface="Arial" charset="0"/>
              </a:rPr>
              <a:t> – Creating 4 Subnets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52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8.1.2.10</a:t>
            </a:r>
            <a:r>
              <a:rPr lang="en-US" baseline="0" dirty="0">
                <a:latin typeface="Arial" charset="0"/>
              </a:rPr>
              <a:t> – Creating 4 Subnets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67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24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IPv4 Network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8.1.2.10</a:t>
            </a:r>
            <a:r>
              <a:rPr lang="en-US" baseline="0" dirty="0">
                <a:latin typeface="Arial" charset="0"/>
              </a:rPr>
              <a:t> – Creating 4 Subnets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386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IPv4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8.1.2.11</a:t>
            </a:r>
            <a:r>
              <a:rPr lang="en-US" baseline="0" dirty="0">
                <a:latin typeface="Arial" charset="0"/>
              </a:rPr>
              <a:t> – Video Demonstration – Creating Four Equal-sized Subnets (/26)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112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8.1.2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IPv4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8.1.2.12</a:t>
            </a:r>
            <a:r>
              <a:rPr lang="en-US" baseline="0" dirty="0">
                <a:latin typeface="Arial" charset="0"/>
              </a:rPr>
              <a:t> – Video Demonstration – Creating Eight Equal-sized Subnets (/27)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89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27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8.1.3.1</a:t>
            </a:r>
            <a:r>
              <a:rPr lang="en-US" baseline="0" dirty="0">
                <a:latin typeface="Arial" charset="0"/>
              </a:rPr>
              <a:t> – Creating Subnets with a /16 prefix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2634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28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8.1.3.2</a:t>
            </a:r>
            <a:r>
              <a:rPr lang="en-US" baseline="0" dirty="0">
                <a:latin typeface="Arial" charset="0"/>
              </a:rPr>
              <a:t> – Creating 100 Subnets with a /16 prefix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88835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29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8.1.3.3</a:t>
            </a:r>
            <a:r>
              <a:rPr lang="en-US" baseline="0" dirty="0">
                <a:latin typeface="Arial" charset="0"/>
              </a:rPr>
              <a:t> – Calculating the Hosts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65676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8.1.3.4</a:t>
            </a:r>
            <a:r>
              <a:rPr lang="en-US" baseline="0" dirty="0">
                <a:latin typeface="Arial" charset="0"/>
              </a:rPr>
              <a:t> – Video Demonstration – Creating One Hundred Equal-sized Subnets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64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31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8.1.3.5</a:t>
            </a:r>
            <a:r>
              <a:rPr lang="en-US" baseline="0" dirty="0">
                <a:latin typeface="Arial" charset="0"/>
              </a:rPr>
              <a:t> – Creating 1000 Subnets with a /8 Network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36069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32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8.1.3.5</a:t>
            </a:r>
            <a:r>
              <a:rPr lang="en-US" baseline="0" dirty="0">
                <a:latin typeface="Arial" charset="0"/>
              </a:rPr>
              <a:t> – Creating 1000 Subnets with a /8 Network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60333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8.1.3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/16 and /8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Prefix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8.1.3.6</a:t>
            </a:r>
            <a:r>
              <a:rPr lang="en-US" baseline="0" dirty="0">
                <a:latin typeface="Arial" charset="0"/>
              </a:rPr>
              <a:t> – Video Demonstration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Across Multiple Octets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805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34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8.1.4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Meet Requirements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8.1.4.1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Based on Host Requirements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2435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35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8.1.4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Meet Requirements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8.1.4.2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Based On Network Requirements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53380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36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8.1.4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Meet Requirements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8.1.4.3</a:t>
            </a:r>
            <a:r>
              <a:rPr lang="en-US" baseline="0" dirty="0">
                <a:latin typeface="Arial" charset="0"/>
              </a:rPr>
              <a:t> – Network Requirement Example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921396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AD6FEA2-E0A2-4FAE-96AF-664964510D72}" type="slidenum">
              <a:rPr lang="en-US" altLang="en-US" sz="800" smtClean="0"/>
              <a:pPr/>
              <a:t>37</a:t>
            </a:fld>
            <a:endParaRPr lang="en-US" altLang="en-US" sz="800" dirty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8.1.4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Meet Requirements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8.1.4.3</a:t>
            </a:r>
            <a:r>
              <a:rPr lang="en-US" baseline="0" dirty="0">
                <a:latin typeface="Arial" charset="0"/>
              </a:rPr>
              <a:t> – Network Requirement Example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85570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8.1.5.1</a:t>
            </a:r>
            <a:r>
              <a:rPr lang="en-US" baseline="0" dirty="0">
                <a:latin typeface="Arial" charset="0"/>
              </a:rPr>
              <a:t>– Traditional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Wastes Addresses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002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8.1.5.2</a:t>
            </a:r>
            <a:r>
              <a:rPr lang="en-US" baseline="0" dirty="0">
                <a:latin typeface="Arial" charset="0"/>
              </a:rPr>
              <a:t> – Variable Length Subnet Masks (VLSM)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949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8.1.5.3</a:t>
            </a:r>
            <a:r>
              <a:rPr lang="en-US" baseline="0" dirty="0">
                <a:latin typeface="Arial" charset="0"/>
              </a:rPr>
              <a:t> – Basic VLSM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734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8.1.5.4</a:t>
            </a:r>
            <a:r>
              <a:rPr lang="en-US" baseline="0" dirty="0">
                <a:latin typeface="Arial" charset="0"/>
              </a:rPr>
              <a:t> – Video Demonstration – VLSM Basics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907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8.1.5.5</a:t>
            </a:r>
            <a:r>
              <a:rPr lang="en-US" baseline="0" dirty="0">
                <a:latin typeface="Arial" charset="0"/>
              </a:rPr>
              <a:t> – VLSM in Practice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574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8.1.5.6</a:t>
            </a:r>
            <a:r>
              <a:rPr lang="en-US" baseline="0" dirty="0">
                <a:latin typeface="Arial" charset="0"/>
              </a:rPr>
              <a:t> – VLSM Chart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7329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an IPv4 Network</a:t>
            </a:r>
          </a:p>
          <a:p>
            <a:pPr>
              <a:buFontTx/>
              <a:buNone/>
            </a:pPr>
            <a:r>
              <a:rPr lang="en-US" sz="1200" b="0" baseline="0" dirty="0"/>
              <a:t>8.1.5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 of Variable Length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Subnet Masking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8.1.5.7</a:t>
            </a:r>
            <a:r>
              <a:rPr lang="en-US" baseline="0" dirty="0">
                <a:latin typeface="Arial" charset="0"/>
              </a:rPr>
              <a:t> – Video Demonstration – VLSM Example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479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</a:t>
            </a:r>
            <a:r>
              <a:rPr lang="en-US" sz="1200" b="0" baseline="0" dirty="0"/>
              <a:t> </a:t>
            </a:r>
            <a:r>
              <a:rPr lang="en-US" sz="1200" b="0" dirty="0"/>
              <a:t>– </a:t>
            </a:r>
            <a:r>
              <a:rPr lang="en-US" sz="1200" b="0" dirty="0" err="1"/>
              <a:t>Subnetting</a:t>
            </a:r>
            <a:r>
              <a:rPr lang="en-US" sz="1200" b="0" dirty="0"/>
              <a:t> IP Networks</a:t>
            </a:r>
          </a:p>
          <a:p>
            <a:pPr>
              <a:buFontTx/>
              <a:buNone/>
            </a:pPr>
            <a:r>
              <a:rPr lang="en-US" sz="1200" b="0" dirty="0"/>
              <a:t>8.2 – Addressing Schemes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326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8.2 – Addressing Schemes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8.2.1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Design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8.2.1.1</a:t>
            </a:r>
            <a:r>
              <a:rPr lang="en-US" baseline="0" dirty="0">
                <a:latin typeface="Arial" charset="0"/>
              </a:rPr>
              <a:t> – Network Address Planning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063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8.2 – Addressing Schemes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8.2.1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Design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8.2.1.2</a:t>
            </a:r>
            <a:r>
              <a:rPr lang="en-US" baseline="0" dirty="0">
                <a:latin typeface="Arial" charset="0"/>
              </a:rPr>
              <a:t> – Planning to Address the Network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577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8.2 – Addressing Schemes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8.2.1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Design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8.2.1.3</a:t>
            </a:r>
            <a:r>
              <a:rPr lang="en-US" baseline="0" dirty="0">
                <a:latin typeface="Arial" charset="0"/>
              </a:rPr>
              <a:t> – Assigning Addresses to Devices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729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</a:t>
            </a:r>
            <a:r>
              <a:rPr lang="en-US" sz="1200" b="0" baseline="0" dirty="0"/>
              <a:t> </a:t>
            </a:r>
            <a:r>
              <a:rPr lang="en-US" sz="1200" b="0" dirty="0"/>
              <a:t>– </a:t>
            </a:r>
            <a:r>
              <a:rPr lang="en-US" sz="1200" b="0" dirty="0" err="1"/>
              <a:t>Subnetting</a:t>
            </a:r>
            <a:r>
              <a:rPr lang="en-US" sz="1200" b="0" dirty="0"/>
              <a:t> IP Networks</a:t>
            </a:r>
          </a:p>
          <a:p>
            <a:pPr>
              <a:buFontTx/>
              <a:buNone/>
            </a:pPr>
            <a:r>
              <a:rPr lang="en-US" sz="1200" b="0" dirty="0"/>
              <a:t>8.3 – Design Considerations for IPv6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649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8.3 – Design Considerations for IPv6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8.3.1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IPv6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8.3.1.1</a:t>
            </a:r>
            <a:r>
              <a:rPr lang="en-US" baseline="0" dirty="0">
                <a:latin typeface="Arial" charset="0"/>
              </a:rPr>
              <a:t> – The IPv6 Global Unicast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5828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8.3 – Design Considerations for IPv6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8.3.1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IPv6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8.3.1.2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baseline="0" dirty="0" err="1">
                <a:latin typeface="Arial" charset="0"/>
              </a:rPr>
              <a:t>Subnetting</a:t>
            </a:r>
            <a:r>
              <a:rPr lang="en-US" baseline="0" dirty="0">
                <a:latin typeface="Arial" charset="0"/>
              </a:rPr>
              <a:t> Using the Subnet 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602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8.3 – Design Considerations for IPv6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8.3.1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IPv6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8.3.1.3</a:t>
            </a:r>
            <a:r>
              <a:rPr lang="en-US" baseline="0" dirty="0">
                <a:latin typeface="Arial" charset="0"/>
              </a:rPr>
              <a:t> – IPv6 Subnet Allocation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87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8.3 – Design Considerations for IPv6</a:t>
            </a:r>
            <a:endParaRPr lang="en-US" sz="1200" b="0" baseline="0" dirty="0"/>
          </a:p>
          <a:p>
            <a:pPr>
              <a:buFontTx/>
              <a:buNone/>
            </a:pPr>
            <a:r>
              <a:rPr lang="en-US" sz="1200" b="0" baseline="0" dirty="0"/>
              <a:t>8.3.1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Subnetting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IPv6 Network</a:t>
            </a: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8.3.1.4</a:t>
            </a:r>
            <a:r>
              <a:rPr lang="en-US" baseline="0" dirty="0">
                <a:latin typeface="Arial" charset="0"/>
              </a:rPr>
              <a:t> – Packet Tracer – Implementing a </a:t>
            </a:r>
            <a:r>
              <a:rPr lang="en-US" baseline="0" dirty="0" err="1">
                <a:latin typeface="Arial" charset="0"/>
              </a:rPr>
              <a:t>Subnetted</a:t>
            </a:r>
            <a:r>
              <a:rPr lang="en-US" baseline="0" dirty="0">
                <a:latin typeface="Arial" charset="0"/>
              </a:rPr>
              <a:t> IPv6 Addressing Scheme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5484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8 – </a:t>
            </a:r>
            <a:r>
              <a:rPr lang="en-US" sz="1200" b="0" dirty="0" err="1"/>
              <a:t>Subnetting</a:t>
            </a:r>
            <a:r>
              <a:rPr lang="en-US" sz="1200" b="0" baseline="0" dirty="0"/>
              <a:t> </a:t>
            </a:r>
            <a:r>
              <a:rPr lang="en-US" sz="1200" b="0" dirty="0"/>
              <a:t>IP Networks</a:t>
            </a:r>
          </a:p>
          <a:p>
            <a:r>
              <a:rPr lang="en-US" dirty="0"/>
              <a:t>8.4 – Summary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00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8.4 – Summary</a:t>
            </a:r>
          </a:p>
          <a:p>
            <a:r>
              <a:rPr lang="en-US" dirty="0"/>
              <a:t>8.4.1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	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/>
              <a:t>8.4.1.2 – Packet Tracer </a:t>
            </a:r>
            <a:r>
              <a:rPr lang="sv-SE" dirty="0"/>
              <a:t>– Skils Integration Challenge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39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56</a:t>
            </a:fld>
            <a:endParaRPr lang="en-U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8.4 – Summary</a:t>
            </a:r>
          </a:p>
          <a:p>
            <a:r>
              <a:rPr lang="en-US" dirty="0"/>
              <a:t>8.4.1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	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/>
              <a:t>8.4.1.3 – </a:t>
            </a:r>
            <a:r>
              <a:rPr lang="en-US" altLang="en-US" dirty="0" err="1"/>
              <a:t>Subnetting</a:t>
            </a:r>
            <a:r>
              <a:rPr lang="en-US" altLang="en-US" dirty="0"/>
              <a:t> IP Networks</a:t>
            </a:r>
          </a:p>
        </p:txBody>
      </p:sp>
    </p:spTree>
    <p:extLst>
      <p:ext uri="{BB962C8B-B14F-4D97-AF65-F5344CB8AC3E}">
        <p14:creationId xmlns:p14="http://schemas.microsoft.com/office/powerpoint/2010/main" val="24237981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57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8: </a:t>
            </a:r>
            <a:br>
              <a:rPr lang="en-US" dirty="0"/>
            </a:br>
            <a:r>
              <a:rPr lang="en-US" dirty="0" err="1"/>
              <a:t>Subnetting</a:t>
            </a:r>
            <a:r>
              <a:rPr lang="en-US" dirty="0"/>
              <a:t> IP Networks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/>
              <a:t>CCNA Routing and Switching</a:t>
            </a:r>
          </a:p>
          <a:p>
            <a:r>
              <a:rPr lang="en-US" dirty="0"/>
              <a:t>Introduction to Networks v6.0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80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sz="1600" dirty="0"/>
              <a:t>8.1 </a:t>
            </a:r>
            <a:r>
              <a:rPr lang="en-CA" sz="1600" dirty="0" err="1"/>
              <a:t>Subnetting</a:t>
            </a:r>
            <a:r>
              <a:rPr lang="en-CA" sz="1600" dirty="0"/>
              <a:t> an IPv4 Network</a:t>
            </a:r>
          </a:p>
          <a:p>
            <a:pPr marL="469106" lvl="1" indent="-214313">
              <a:buFont typeface="Arial" panose="020B0604020202020204" pitchFamily="34" charset="0"/>
              <a:buChar char="•"/>
            </a:pPr>
            <a:r>
              <a:rPr lang="en-CA" sz="1600" dirty="0"/>
              <a:t>Implement an IPv4 addressing scheme to enable end-to-end connectivity in a small to medium-sized business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how </a:t>
            </a:r>
            <a:r>
              <a:rPr lang="en-US" dirty="0" err="1"/>
              <a:t>subnetting</a:t>
            </a:r>
            <a:r>
              <a:rPr lang="en-US" dirty="0"/>
              <a:t> segments a network to enable better communication.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how to calculate IPv4 subnets for a /24 prefix.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how to calculate IPv4 subnets for a /16 and /8 prefix.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Given a set of requirements for </a:t>
            </a:r>
            <a:r>
              <a:rPr lang="en-US" dirty="0" err="1"/>
              <a:t>subnetting</a:t>
            </a:r>
            <a:r>
              <a:rPr lang="en-US" dirty="0"/>
              <a:t>, implement an IPv4 addressing scheme.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how to create a flexible addressing scheme using variable length subnet masking (VLSM).</a:t>
            </a:r>
          </a:p>
          <a:p>
            <a:r>
              <a:rPr lang="en-CA" sz="1600" dirty="0"/>
              <a:t>8.2 Addressing Schemes</a:t>
            </a:r>
          </a:p>
          <a:p>
            <a:pPr marL="469106" lvl="1" indent="-214313">
              <a:buFont typeface="Arial" panose="020B0604020202020204" pitchFamily="34" charset="0"/>
              <a:buChar char="•"/>
            </a:pPr>
            <a:r>
              <a:rPr lang="en-CA" sz="1600" dirty="0"/>
              <a:t>Given a set of requirements, implement a VLSM addressing scheme to provide connectivity to end users in a small to medium-sized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CA" dirty="0"/>
              <a:t>Implement a VLSM addressing scheme.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8 - Sections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588686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8.3 Address Schemes</a:t>
            </a:r>
          </a:p>
          <a:p>
            <a:pPr marL="470297" lvl="1" indent="-214313">
              <a:buFont typeface="Arial" panose="020B0604020202020204" pitchFamily="34" charset="0"/>
              <a:buChar char="•"/>
            </a:pPr>
            <a:r>
              <a:rPr lang="en-US" sz="1600" dirty="0"/>
              <a:t>Explain design considerations for implementing IPv6 in a business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how to implement IPv6 address assignments in a business network.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8 - Sections &amp; Objectives (Cont.)</a:t>
            </a:r>
          </a:p>
        </p:txBody>
      </p:sp>
    </p:spTree>
    <p:extLst>
      <p:ext uri="{BB962C8B-B14F-4D97-AF65-F5344CB8AC3E}">
        <p14:creationId xmlns:p14="http://schemas.microsoft.com/office/powerpoint/2010/main" val="260721613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8.1 </a:t>
            </a:r>
            <a:r>
              <a:rPr lang="en-US" dirty="0" err="1"/>
              <a:t>Subnetting</a:t>
            </a:r>
            <a:r>
              <a:rPr lang="en-US" dirty="0"/>
              <a:t> an IPv4 Network</a:t>
            </a:r>
          </a:p>
        </p:txBody>
      </p:sp>
    </p:spTree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1782210"/>
          </a:xfrm>
        </p:spPr>
        <p:txBody>
          <a:bodyPr/>
          <a:lstStyle/>
          <a:p>
            <a:r>
              <a:rPr lang="en-US" dirty="0"/>
              <a:t>Devices use broadcasts in an Ethernet LAN to locate:</a:t>
            </a:r>
          </a:p>
          <a:p>
            <a:pPr lvl="1"/>
            <a:r>
              <a:rPr lang="en-US" b="1" dirty="0"/>
              <a:t>Other devices</a:t>
            </a:r>
            <a:r>
              <a:rPr lang="en-US" dirty="0"/>
              <a:t> - Address Resolution Protocol (ARP) which sends Layer 2 broadcasts to a known IPv4 address on the local network to discover the associated MAC address.</a:t>
            </a:r>
          </a:p>
          <a:p>
            <a:pPr lvl="1"/>
            <a:r>
              <a:rPr lang="en-US" b="1" dirty="0"/>
              <a:t>Services – </a:t>
            </a:r>
            <a:r>
              <a:rPr lang="en-US" dirty="0"/>
              <a:t>Dynamic Host Configuration Protocol (DHCP) which sends broadcasts on the local network to locate a DHCP server.</a:t>
            </a:r>
          </a:p>
          <a:p>
            <a:r>
              <a:rPr lang="en-US" dirty="0"/>
              <a:t>Switches propagate broadcasts out all interfaces except the interface on which it was received. </a:t>
            </a:r>
            <a:endParaRPr lang="en-US" altLang="ja-JP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>
                <a:latin typeface="Arial" charset="0"/>
              </a:rPr>
              <a:t>Network Segmentation</a:t>
            </a:r>
            <a:br>
              <a:rPr lang="en-US" altLang="en-US" dirty="0"/>
            </a:br>
            <a:r>
              <a:rPr lang="en-US" altLang="en-US" dirty="0"/>
              <a:t>Broadcast Domains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050" y="2569581"/>
            <a:ext cx="40513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Hosts </a:t>
            </a:r>
            <a:r>
              <a:rPr lang="en-US" dirty="0"/>
              <a:t>can generate excessive broadcasts and negatively affect the network.</a:t>
            </a:r>
          </a:p>
          <a:p>
            <a:pPr lvl="1"/>
            <a:r>
              <a:rPr lang="en-US" dirty="0"/>
              <a:t>Slow network operations due to the significant amount of traffic it can cause.</a:t>
            </a:r>
          </a:p>
          <a:p>
            <a:pPr lvl="1"/>
            <a:r>
              <a:rPr lang="en-US" dirty="0"/>
              <a:t>Slow device operations because a device must accept and process each broadcast packet.</a:t>
            </a:r>
          </a:p>
          <a:p>
            <a:r>
              <a:rPr lang="en-US" dirty="0"/>
              <a:t>Solution: Reduce the size of the network to create smaller broadcast domains. These smaller network spaces are called </a:t>
            </a:r>
            <a:r>
              <a:rPr lang="en-US" i="1" dirty="0"/>
              <a:t>subnets</a:t>
            </a:r>
            <a:r>
              <a:rPr lang="en-US" dirty="0"/>
              <a:t>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>
                <a:latin typeface="Arial" charset="0"/>
              </a:rPr>
              <a:t>Network Segmentation</a:t>
            </a:r>
            <a:br>
              <a:rPr lang="en-GB" sz="1600" dirty="0">
                <a:latin typeface="Arial" charset="0"/>
              </a:rPr>
            </a:br>
            <a:r>
              <a:rPr lang="en-US" altLang="en-US" dirty="0"/>
              <a:t>Problems with Large Broadcast Domains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55" y="2513577"/>
            <a:ext cx="3264807" cy="20468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848" y="2553438"/>
            <a:ext cx="3875945" cy="2046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26643" y="2745865"/>
            <a:ext cx="1203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Broadcast  in LAN 1 contained in 1 subnet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5026" y="2755626"/>
            <a:ext cx="1203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Broadcast  in LAN 2 contained in 1 subnet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4790" y="2553438"/>
            <a:ext cx="1208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One Broadcast Domain</a:t>
            </a:r>
          </a:p>
        </p:txBody>
      </p:sp>
    </p:spTree>
    <p:extLst>
      <p:ext uri="{BB962C8B-B14F-4D97-AF65-F5344CB8AC3E}">
        <p14:creationId xmlns:p14="http://schemas.microsoft.com/office/powerpoint/2010/main" val="185217759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overall network traffic and improves network performance. </a:t>
            </a:r>
          </a:p>
          <a:p>
            <a:r>
              <a:rPr lang="en-US" dirty="0"/>
              <a:t>Enables an administrator to implement security policies such as which subnets are allowed or not allowed to communicate together.</a:t>
            </a:r>
            <a:endParaRPr lang="en-US" altLang="ja-JP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>
                <a:latin typeface="Arial" charset="0"/>
              </a:rPr>
              <a:t>Network Segmentation</a:t>
            </a:r>
            <a:br>
              <a:rPr lang="en-GB" sz="1600" dirty="0">
                <a:latin typeface="Arial" charset="0"/>
              </a:rPr>
            </a:br>
            <a:r>
              <a:rPr lang="en-US" altLang="en-US" dirty="0"/>
              <a:t>Reasons for </a:t>
            </a:r>
            <a:r>
              <a:rPr lang="en-US" altLang="en-US" dirty="0" err="1"/>
              <a:t>Subnetting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6430"/>
            <a:ext cx="4618761" cy="2500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99" y="2913238"/>
            <a:ext cx="3098477" cy="2134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246" y="2269431"/>
            <a:ext cx="2044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Subnetting</a:t>
            </a:r>
            <a:r>
              <a:rPr lang="en-US" sz="1200" b="1" dirty="0"/>
              <a:t> by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2199" y="1529988"/>
            <a:ext cx="2789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Communicating between</a:t>
            </a:r>
          </a:p>
          <a:p>
            <a:pPr algn="ctr"/>
            <a:r>
              <a:rPr lang="en-US" sz="1200" b="1" dirty="0"/>
              <a:t>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8141" y="2636239"/>
            <a:ext cx="2662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Subnetting</a:t>
            </a:r>
            <a:r>
              <a:rPr lang="en-US" sz="1200" b="1" dirty="0"/>
              <a:t> by Device Type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559" y="1444496"/>
            <a:ext cx="3005341" cy="21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4773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>
                <a:latin typeface="Arial" charset="0"/>
              </a:rPr>
              <a:t>Subnetting</a:t>
            </a:r>
            <a:r>
              <a:rPr lang="en-US" sz="1600" dirty="0">
                <a:latin typeface="Arial" charset="0"/>
              </a:rPr>
              <a:t> an IPv4 Network</a:t>
            </a:r>
            <a:br>
              <a:rPr lang="en-GB" sz="1600" dirty="0"/>
            </a:br>
            <a:r>
              <a:rPr lang="en-US" altLang="en-US" dirty="0"/>
              <a:t>Octet Boundaries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32585" y="3636610"/>
            <a:ext cx="7050613" cy="9015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Prefix length and the subnet mask are different ways of identifying the network portion of an address.</a:t>
            </a:r>
            <a:endParaRPr lang="en-CA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1400" dirty="0"/>
              <a:t>Subnets are created by borrowing host bits for network bits.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sz="1400" dirty="0"/>
              <a:t>More host bits borrowed, the more subnets that can be defined</a:t>
            </a:r>
            <a:r>
              <a:rPr lang="en-CA" dirty="0"/>
              <a:t>.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279" r="1361"/>
          <a:stretch/>
        </p:blipFill>
        <p:spPr>
          <a:xfrm>
            <a:off x="1622738" y="799398"/>
            <a:ext cx="6864440" cy="283721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36711" y="1204223"/>
            <a:ext cx="1111608" cy="2013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Networks are most easily </a:t>
            </a:r>
            <a:r>
              <a:rPr lang="en-US" sz="1400" b="1" dirty="0" err="1"/>
              <a:t>subnetted</a:t>
            </a:r>
            <a:r>
              <a:rPr lang="en-US" sz="1400" b="1" dirty="0"/>
              <a:t> at the </a:t>
            </a:r>
          </a:p>
          <a:p>
            <a:pPr algn="ctr"/>
            <a:r>
              <a:rPr lang="en-US" sz="1400" b="1" dirty="0"/>
              <a:t>octet boundary of /8, /16, and /24</a:t>
            </a:r>
          </a:p>
        </p:txBody>
      </p:sp>
    </p:spTree>
    <p:extLst>
      <p:ext uri="{BB962C8B-B14F-4D97-AF65-F5344CB8AC3E}">
        <p14:creationId xmlns:p14="http://schemas.microsoft.com/office/powerpoint/2010/main" val="40083748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>
                <a:latin typeface="Arial" charset="0"/>
              </a:rPr>
              <a:t>Subnetting</a:t>
            </a:r>
            <a:r>
              <a:rPr lang="en-US" sz="1600" dirty="0">
                <a:latin typeface="Arial" charset="0"/>
              </a:rPr>
              <a:t> an IPv4 Network </a:t>
            </a:r>
            <a:br>
              <a:rPr lang="en-US" altLang="en-US" sz="1600" dirty="0"/>
            </a:br>
            <a:r>
              <a:rPr lang="en-US" altLang="en-US" dirty="0" err="1"/>
              <a:t>Subnetting</a:t>
            </a:r>
            <a:r>
              <a:rPr lang="en-US" altLang="en-US" dirty="0"/>
              <a:t> on the Octet Boundary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477" y="3847069"/>
            <a:ext cx="8542116" cy="61570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Subnetting</a:t>
            </a:r>
            <a:r>
              <a:rPr lang="en-US" sz="1400" dirty="0"/>
              <a:t> Network 10.x.0.0/16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Define up to 256 subnets with each subnet capable of connecting 65,534 hosts.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First two octets identify the network portion while the last two octets are for host IP addresses.</a:t>
            </a:r>
            <a:endParaRPr lang="en-CA" alt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31" y="798944"/>
            <a:ext cx="8452209" cy="3080712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694688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>
                <a:latin typeface="Arial" charset="0"/>
              </a:rPr>
              <a:t>Subnetting</a:t>
            </a:r>
            <a:r>
              <a:rPr lang="en-US" sz="1600" dirty="0">
                <a:latin typeface="Arial" charset="0"/>
              </a:rPr>
              <a:t> an IPv4 Network </a:t>
            </a:r>
            <a:br>
              <a:rPr lang="en-US" altLang="en-US" sz="1600" dirty="0"/>
            </a:br>
            <a:r>
              <a:rPr lang="en-US" altLang="en-US" dirty="0" err="1"/>
              <a:t>Subnetting</a:t>
            </a:r>
            <a:r>
              <a:rPr lang="en-US" altLang="en-US" dirty="0"/>
              <a:t> on the Octet Boundary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8181" y="3952089"/>
            <a:ext cx="8109411" cy="65253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Subnetting</a:t>
            </a:r>
            <a:r>
              <a:rPr lang="en-US" sz="1400" dirty="0"/>
              <a:t> Network 10.x.x.0/24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Define 65,536 subnets each capable of connecting 254 hosts.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/24 boundary is very popular in </a:t>
            </a:r>
            <a:r>
              <a:rPr lang="en-US" sz="1400" dirty="0" err="1"/>
              <a:t>subnetting</a:t>
            </a:r>
            <a:r>
              <a:rPr lang="en-US" sz="1400" dirty="0"/>
              <a:t> because of number of hosts.</a:t>
            </a:r>
            <a:endParaRPr lang="en-CA" alt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" y="751080"/>
            <a:ext cx="7457542" cy="314105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584332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>
                <a:latin typeface="Arial" charset="0"/>
              </a:rPr>
              <a:t>Subnetting</a:t>
            </a:r>
            <a:r>
              <a:rPr lang="en-US" sz="1600" dirty="0">
                <a:latin typeface="Arial" charset="0"/>
              </a:rPr>
              <a:t> an IPv4 Network </a:t>
            </a:r>
            <a:br>
              <a:rPr lang="en-US" altLang="en-US" sz="1600" dirty="0"/>
            </a:br>
            <a:r>
              <a:rPr lang="en-US" altLang="en-US" dirty="0"/>
              <a:t>Classless </a:t>
            </a:r>
            <a:r>
              <a:rPr lang="en-US" altLang="en-US" dirty="0" err="1"/>
              <a:t>Subnetting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358" y="4342677"/>
            <a:ext cx="8853286" cy="265927"/>
          </a:xfrm>
        </p:spPr>
        <p:txBody>
          <a:bodyPr/>
          <a:lstStyle/>
          <a:p>
            <a:pPr marL="0" indent="0" algn="ctr">
              <a:buNone/>
            </a:pPr>
            <a:r>
              <a:rPr lang="en-US" sz="1600" dirty="0"/>
              <a:t>Subnets can borrow bits from </a:t>
            </a:r>
            <a:r>
              <a:rPr lang="en-US" sz="1600" i="1" dirty="0"/>
              <a:t>any</a:t>
            </a:r>
            <a:r>
              <a:rPr lang="en-US" sz="1600" dirty="0"/>
              <a:t> host bit position to create other masks. </a:t>
            </a:r>
            <a:endParaRPr lang="en-CA" alt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716" r="-1"/>
          <a:stretch/>
        </p:blipFill>
        <p:spPr>
          <a:xfrm>
            <a:off x="695458" y="1168276"/>
            <a:ext cx="7508385" cy="3138773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893672" y="834572"/>
            <a:ext cx="335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Subnetting</a:t>
            </a:r>
            <a:r>
              <a:rPr lang="en-US" dirty="0"/>
              <a:t> a /24 Network</a:t>
            </a:r>
          </a:p>
        </p:txBody>
      </p:sp>
    </p:spTree>
    <p:extLst>
      <p:ext uri="{BB962C8B-B14F-4D97-AF65-F5344CB8AC3E}">
        <p14:creationId xmlns:p14="http://schemas.microsoft.com/office/powerpoint/2010/main" val="4495531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The Subnet Mask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162523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 err="1"/>
              <a:t>Subnetting</a:t>
            </a:r>
            <a:r>
              <a:rPr lang="en-CA" altLang="en-US" dirty="0"/>
              <a:t> in Binary</a:t>
            </a:r>
          </a:p>
          <a:p>
            <a:r>
              <a:rPr lang="en-CA" altLang="en-US" sz="1400" dirty="0"/>
              <a:t>ANDING</a:t>
            </a:r>
          </a:p>
          <a:p>
            <a:pPr lvl="1"/>
            <a:r>
              <a:rPr lang="en-CA" altLang="en-US" sz="1300" dirty="0"/>
              <a:t>Convert IP address and Subnet Mask to Binary (line up vertically like an addition problem)</a:t>
            </a:r>
          </a:p>
          <a:p>
            <a:pPr lvl="1"/>
            <a:r>
              <a:rPr lang="en-US" altLang="en-US" sz="1300" dirty="0"/>
              <a:t>Logically AND (1 and 1 = 1, all other combinations = 0)</a:t>
            </a:r>
            <a:endParaRPr lang="en-US" sz="1300" dirty="0"/>
          </a:p>
          <a:p>
            <a:pPr lvl="1"/>
            <a:r>
              <a:rPr lang="en-US" altLang="en-US" sz="1300" dirty="0"/>
              <a:t>Result is network address for original IP address </a:t>
            </a:r>
            <a:endParaRPr lang="en-US" sz="1400" dirty="0"/>
          </a:p>
          <a:p>
            <a:r>
              <a:rPr lang="en-US" sz="1400" dirty="0"/>
              <a:t>Classful </a:t>
            </a:r>
            <a:r>
              <a:rPr lang="en-US" sz="1400" dirty="0" err="1"/>
              <a:t>Subnetting</a:t>
            </a:r>
            <a:r>
              <a:rPr lang="en-US" sz="1400" dirty="0"/>
              <a:t> </a:t>
            </a:r>
          </a:p>
          <a:p>
            <a:pPr lvl="1"/>
            <a:r>
              <a:rPr lang="en-US" sz="1300" dirty="0"/>
              <a:t>Class A  /8  255.0.0.0</a:t>
            </a:r>
          </a:p>
          <a:p>
            <a:pPr lvl="1"/>
            <a:r>
              <a:rPr lang="en-US" sz="1300" dirty="0"/>
              <a:t>Class B  /16  255.255.0.0</a:t>
            </a:r>
          </a:p>
          <a:p>
            <a:pPr lvl="1"/>
            <a:r>
              <a:rPr lang="en-US" sz="1300" dirty="0"/>
              <a:t>Class C  /24  255.255.255.0</a:t>
            </a:r>
            <a:endParaRPr lang="en-CA" altLang="en-US" dirty="0"/>
          </a:p>
          <a:p>
            <a:endParaRPr lang="en-CA" altLang="en-US" dirty="0"/>
          </a:p>
          <a:p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53" y="2253803"/>
            <a:ext cx="4163098" cy="213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2417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The Subnet Mask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162523"/>
          </a:xfrm>
        </p:spPr>
        <p:txBody>
          <a:bodyPr/>
          <a:lstStyle/>
          <a:p>
            <a:endParaRPr lang="en-CA" altLang="en-US" dirty="0"/>
          </a:p>
          <a:p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495"/>
          <a:stretch/>
        </p:blipFill>
        <p:spPr>
          <a:xfrm>
            <a:off x="144065" y="1146219"/>
            <a:ext cx="4234241" cy="29644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3097" b="14304"/>
          <a:stretch/>
        </p:blipFill>
        <p:spPr>
          <a:xfrm>
            <a:off x="4378306" y="1197735"/>
            <a:ext cx="4048340" cy="22117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306" y="3448101"/>
            <a:ext cx="3916126" cy="53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067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</a:t>
            </a:r>
            <a:r>
              <a:rPr lang="en-CA" altLang="en-US" dirty="0" err="1"/>
              <a:t>Subnetting</a:t>
            </a:r>
            <a:r>
              <a:rPr lang="en-CA" altLang="en-US" dirty="0"/>
              <a:t> with the Magic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1064871"/>
            <a:ext cx="8853286" cy="3896596"/>
          </a:xfrm>
        </p:spPr>
        <p:txBody>
          <a:bodyPr/>
          <a:lstStyle/>
          <a:p>
            <a:r>
              <a:rPr lang="en-US" dirty="0"/>
              <a:t>Magic number technique used to calculate subnets</a:t>
            </a:r>
          </a:p>
          <a:p>
            <a:r>
              <a:rPr lang="en-US" dirty="0"/>
              <a:t>Magic number is simply the place value of the last one in the subnet mask</a:t>
            </a:r>
          </a:p>
          <a:p>
            <a:r>
              <a:rPr lang="en-US" dirty="0"/>
              <a:t>/25  11111111.11111111.11111111.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0000000 magic number = </a:t>
            </a:r>
            <a:r>
              <a:rPr lang="en-US" dirty="0">
                <a:solidFill>
                  <a:srgbClr val="FF0000"/>
                </a:solidFill>
              </a:rPr>
              <a:t>128</a:t>
            </a:r>
          </a:p>
          <a:p>
            <a:r>
              <a:rPr lang="en-US" altLang="en-US" dirty="0"/>
              <a:t>/26  11111111.11111111.11111111.1</a:t>
            </a:r>
            <a:r>
              <a:rPr lang="en-US" altLang="en-US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000000 magic number = </a:t>
            </a:r>
            <a:r>
              <a:rPr lang="en-US" altLang="en-US" dirty="0">
                <a:solidFill>
                  <a:srgbClr val="FF0000"/>
                </a:solidFill>
              </a:rPr>
              <a:t>64</a:t>
            </a:r>
            <a:endParaRPr lang="en-CA" altLang="en-US" dirty="0"/>
          </a:p>
          <a:p>
            <a:r>
              <a:rPr lang="en-CA" altLang="en-US" dirty="0"/>
              <a:t>/27  11111111.11111111.11111111.11</a:t>
            </a:r>
            <a:r>
              <a:rPr lang="en-CA" altLang="en-US" dirty="0">
                <a:solidFill>
                  <a:srgbClr val="FF0000"/>
                </a:solidFill>
              </a:rPr>
              <a:t>1</a:t>
            </a:r>
            <a:r>
              <a:rPr lang="en-CA" altLang="en-US" dirty="0"/>
              <a:t>00000 magic number = </a:t>
            </a:r>
            <a:r>
              <a:rPr lang="en-CA" altLang="en-US" dirty="0">
                <a:solidFill>
                  <a:srgbClr val="FF0000"/>
                </a:solidFill>
              </a:rPr>
              <a:t>32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92" y="2962140"/>
            <a:ext cx="3316708" cy="182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7435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</a:t>
            </a:r>
            <a:r>
              <a:rPr lang="en-CA" altLang="en-US" dirty="0" err="1"/>
              <a:t>Subnetting</a:t>
            </a:r>
            <a:r>
              <a:rPr lang="en-CA" altLang="en-US" dirty="0"/>
              <a:t> with the Magic Number (Cont.)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35" y="889637"/>
            <a:ext cx="5957460" cy="355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8182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</a:t>
            </a:r>
            <a:r>
              <a:rPr lang="en-CA" altLang="en-US" dirty="0" err="1"/>
              <a:t>Subnetting</a:t>
            </a:r>
            <a:r>
              <a:rPr lang="en-CA" altLang="en-US" dirty="0"/>
              <a:t> with the Magic Number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889" y="895838"/>
            <a:ext cx="5752223" cy="403559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3425728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CA" altLang="en-US" sz="1600" dirty="0"/>
            </a:br>
            <a:r>
              <a:rPr lang="en-CA" altLang="en-US" dirty="0"/>
              <a:t>Classless </a:t>
            </a:r>
            <a:r>
              <a:rPr lang="en-CA" altLang="en-US" dirty="0" err="1"/>
              <a:t>Subnetting</a:t>
            </a:r>
            <a:r>
              <a:rPr lang="en-CA" altLang="en-US" dirty="0"/>
              <a:t> 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58" y="925975"/>
            <a:ext cx="3384010" cy="3638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313" y="839164"/>
            <a:ext cx="3590133" cy="381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814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/>
              <a:t>Subnetting an IPv4 Network </a:t>
            </a:r>
            <a:br>
              <a:rPr lang="en-CA" altLang="en-US" sz="1600" dirty="0"/>
            </a:br>
            <a:r>
              <a:rPr lang="en-CA" altLang="en-US" dirty="0"/>
              <a:t>Creating 2 Subnets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93248"/>
          </a:xfrm>
        </p:spPr>
        <p:txBody>
          <a:bodyPr/>
          <a:lstStyle/>
          <a:p>
            <a:r>
              <a:rPr lang="en-CA" altLang="en-US" dirty="0"/>
              <a:t>/25 </a:t>
            </a:r>
            <a:r>
              <a:rPr lang="en-CA" altLang="en-US" dirty="0" err="1"/>
              <a:t>Subnetting</a:t>
            </a:r>
            <a:r>
              <a:rPr lang="en-CA" altLang="en-US" dirty="0"/>
              <a:t> Topology</a:t>
            </a:r>
          </a:p>
          <a:p>
            <a:endParaRPr lang="en-CA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56" y="1307938"/>
            <a:ext cx="4306540" cy="31063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21" y="798944"/>
            <a:ext cx="3245831" cy="362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8610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Creating Two Equal-sized Subnets (/25)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974154"/>
            <a:ext cx="8853286" cy="3987313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Create 2 Equal-sized Subnets from 192.168.1.0 /24</a:t>
            </a:r>
          </a:p>
          <a:p>
            <a:r>
              <a:rPr lang="en-CA" altLang="en-US" sz="1400" b="1" dirty="0"/>
              <a:t>Subnet Mask</a:t>
            </a:r>
            <a:r>
              <a:rPr lang="en-CA" altLang="en-US" sz="1400" dirty="0"/>
              <a:t> - 11111111.11111111.11111111.</a:t>
            </a:r>
            <a:r>
              <a:rPr lang="en-CA" altLang="en-US" sz="1400" dirty="0">
                <a:solidFill>
                  <a:srgbClr val="FF0000"/>
                </a:solidFill>
              </a:rPr>
              <a:t>1</a:t>
            </a:r>
            <a:r>
              <a:rPr lang="en-CA" altLang="en-US" sz="1400" dirty="0"/>
              <a:t>0000000</a:t>
            </a:r>
          </a:p>
          <a:p>
            <a:endParaRPr lang="en-CA" altLang="en-US" dirty="0"/>
          </a:p>
          <a:p>
            <a:endParaRPr lang="en-CA" altLang="en-US" dirty="0"/>
          </a:p>
          <a:p>
            <a:endParaRPr lang="en-CA" altLang="en-US" dirty="0"/>
          </a:p>
          <a:p>
            <a:r>
              <a:rPr lang="en-CA" altLang="en-US" dirty="0"/>
              <a:t>Magic Number = </a:t>
            </a:r>
            <a:r>
              <a:rPr lang="en-CA" altLang="en-US" dirty="0">
                <a:solidFill>
                  <a:srgbClr val="FF0000"/>
                </a:solidFill>
              </a:rPr>
              <a:t>128</a:t>
            </a:r>
          </a:p>
          <a:p>
            <a:r>
              <a:rPr lang="en-CA" altLang="en-US" dirty="0"/>
              <a:t>192.168.1.0 /25 </a:t>
            </a:r>
            <a:r>
              <a:rPr lang="en-CA" altLang="en-US" dirty="0">
                <a:solidFill>
                  <a:srgbClr val="FF0000"/>
                </a:solidFill>
              </a:rPr>
              <a:t>(start at 0)</a:t>
            </a:r>
          </a:p>
          <a:p>
            <a:r>
              <a:rPr lang="en-CA" altLang="en-US" dirty="0"/>
              <a:t>192.168.1.128 /25 </a:t>
            </a:r>
            <a:r>
              <a:rPr lang="en-CA" altLang="en-US" dirty="0">
                <a:solidFill>
                  <a:srgbClr val="FF0000"/>
                </a:solidFill>
              </a:rPr>
              <a:t>(Add 128)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709" y="2526565"/>
            <a:ext cx="3485150" cy="1788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500" y="974154"/>
            <a:ext cx="3344734" cy="15248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88" y="1736556"/>
            <a:ext cx="4194220" cy="104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3551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16" y="1425595"/>
            <a:ext cx="2671167" cy="43433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Number of Subnets Formula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7708"/>
            <a:ext cx="9144000" cy="757551"/>
          </a:xfrm>
        </p:spPr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US" altLang="en-US" dirty="0"/>
            </a:br>
            <a:r>
              <a:rPr lang="en-US" altLang="en-US" dirty="0" err="1"/>
              <a:t>Subnetting</a:t>
            </a:r>
            <a:r>
              <a:rPr lang="en-US" altLang="en-US" dirty="0"/>
              <a:t> Formulas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7" y="2060294"/>
            <a:ext cx="1599544" cy="163050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980" y="1692446"/>
            <a:ext cx="4631158" cy="285712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08071" y="1345206"/>
            <a:ext cx="3889095" cy="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/>
              <a:t>Subnetting</a:t>
            </a:r>
            <a:r>
              <a:rPr lang="en-US" dirty="0"/>
              <a:t> a /24 Network</a:t>
            </a:r>
          </a:p>
        </p:txBody>
      </p:sp>
    </p:spTree>
    <p:extLst>
      <p:ext uri="{BB962C8B-B14F-4D97-AF65-F5344CB8AC3E}">
        <p14:creationId xmlns:p14="http://schemas.microsoft.com/office/powerpoint/2010/main" val="2026875563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159" y="1642763"/>
            <a:ext cx="2459611" cy="46739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Number </a:t>
            </a:r>
            <a:r>
              <a:rPr lang="en-US"/>
              <a:t>of Hosts </a:t>
            </a:r>
            <a:r>
              <a:rPr lang="en-US" dirty="0"/>
              <a:t>Formula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7708"/>
            <a:ext cx="9144000" cy="757551"/>
          </a:xfrm>
        </p:spPr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US" altLang="en-US" dirty="0"/>
            </a:br>
            <a:r>
              <a:rPr lang="en-US" altLang="en-US" dirty="0" err="1"/>
              <a:t>Subnetting</a:t>
            </a:r>
            <a:r>
              <a:rPr lang="en-US" altLang="en-US" dirty="0"/>
              <a:t> Formulas (Cont.)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027990" y="1747777"/>
            <a:ext cx="3889095" cy="341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Calculating the Number of Hosts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50" y="2249879"/>
            <a:ext cx="2906430" cy="183121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216" y="2101346"/>
            <a:ext cx="4703073" cy="19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75271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US" altLang="en-US" dirty="0"/>
            </a:br>
            <a:r>
              <a:rPr lang="en-US" altLang="en-US" dirty="0"/>
              <a:t>Creating 4 Subnets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39547"/>
          </a:xfrm>
        </p:spPr>
        <p:txBody>
          <a:bodyPr/>
          <a:lstStyle/>
          <a:p>
            <a:r>
              <a:rPr lang="en-US" sz="1600" dirty="0"/>
              <a:t>/26 </a:t>
            </a:r>
            <a:r>
              <a:rPr lang="en-US" sz="1600" dirty="0" err="1"/>
              <a:t>Subnetting</a:t>
            </a:r>
            <a:r>
              <a:rPr lang="en-US" sz="1600" dirty="0"/>
              <a:t> Topology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7" y="1526967"/>
            <a:ext cx="4425036" cy="17593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105" y="431743"/>
            <a:ext cx="4014393" cy="35870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343" y="3437680"/>
            <a:ext cx="3352840" cy="141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9416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US" altLang="en-US" dirty="0"/>
            </a:br>
            <a:r>
              <a:rPr lang="en-US" altLang="en-US" dirty="0"/>
              <a:t>Creating 4 Subnets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39547"/>
          </a:xfrm>
        </p:spPr>
        <p:txBody>
          <a:bodyPr/>
          <a:lstStyle/>
          <a:p>
            <a:r>
              <a:rPr lang="en-US" sz="1600" dirty="0"/>
              <a:t>/26 </a:t>
            </a:r>
            <a:r>
              <a:rPr lang="en-US" sz="1600" dirty="0" err="1"/>
              <a:t>Subnetting</a:t>
            </a:r>
            <a:r>
              <a:rPr lang="en-US" sz="1600" dirty="0"/>
              <a:t> Topology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350" y="1230600"/>
            <a:ext cx="6076715" cy="39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343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 </a:t>
            </a:r>
            <a:br>
              <a:rPr lang="en-US" altLang="en-US" dirty="0"/>
            </a:br>
            <a:r>
              <a:rPr lang="en-US" altLang="en-US" dirty="0"/>
              <a:t>Creating 4 Subnets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39547"/>
          </a:xfrm>
        </p:spPr>
        <p:txBody>
          <a:bodyPr/>
          <a:lstStyle/>
          <a:p>
            <a:r>
              <a:rPr lang="en-US" sz="1600" dirty="0"/>
              <a:t>/26 </a:t>
            </a:r>
            <a:r>
              <a:rPr lang="en-US" sz="1600" dirty="0" err="1"/>
              <a:t>Subnetting</a:t>
            </a:r>
            <a:r>
              <a:rPr lang="en-US" sz="1600" dirty="0"/>
              <a:t> Topology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8491"/>
            <a:ext cx="6199752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689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Creating Four Equal-sized Subnets (/26)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965915"/>
            <a:ext cx="8853286" cy="3995552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Create 4 Equal-sized Subnets from 192.168.1.0 /24</a:t>
            </a:r>
          </a:p>
          <a:p>
            <a:r>
              <a:rPr lang="en-CA" altLang="en-US" sz="1400" dirty="0"/>
              <a:t>Subnet Mask in Binary – 11111111.11111111.11111111.</a:t>
            </a:r>
            <a:r>
              <a:rPr lang="en-CA" altLang="en-US" sz="1400" dirty="0">
                <a:solidFill>
                  <a:srgbClr val="FF0000"/>
                </a:solidFill>
              </a:rPr>
              <a:t>11</a:t>
            </a:r>
            <a:r>
              <a:rPr lang="en-CA" altLang="en-US" sz="1400" dirty="0"/>
              <a:t>000000</a:t>
            </a:r>
          </a:p>
          <a:p>
            <a:r>
              <a:rPr lang="en-CA" altLang="en-US" sz="1400" dirty="0"/>
              <a:t>2^2 = 4 Subnets</a:t>
            </a:r>
          </a:p>
          <a:p>
            <a:r>
              <a:rPr lang="en-US" altLang="en-US" sz="1400" dirty="0"/>
              <a:t>Magic Number = 64</a:t>
            </a:r>
            <a:endParaRPr lang="en-US" sz="1400" dirty="0"/>
          </a:p>
          <a:p>
            <a:r>
              <a:rPr lang="en-US" altLang="en-US" sz="1400" dirty="0"/>
              <a:t>192.168.1.0 /26</a:t>
            </a:r>
          </a:p>
          <a:p>
            <a:r>
              <a:rPr lang="en-US" sz="1400" dirty="0"/>
              <a:t>192.168.1.64 /26</a:t>
            </a:r>
          </a:p>
          <a:p>
            <a:r>
              <a:rPr lang="en-US" sz="1400" dirty="0"/>
              <a:t>192.168.1.128 /26</a:t>
            </a:r>
          </a:p>
          <a:p>
            <a:r>
              <a:rPr lang="en-US" sz="1400" dirty="0"/>
              <a:t>192.168.1.192 /26</a:t>
            </a:r>
          </a:p>
          <a:p>
            <a:endParaRPr lang="en-CA" altLang="en-US" dirty="0"/>
          </a:p>
          <a:p>
            <a:endParaRPr lang="en-CA" altLang="en-US" dirty="0"/>
          </a:p>
          <a:p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91" y="1907446"/>
            <a:ext cx="3567448" cy="184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02692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IPv4 Network</a:t>
            </a:r>
            <a:br>
              <a:rPr lang="en-CA" altLang="en-US" sz="1600" dirty="0"/>
            </a:br>
            <a:r>
              <a:rPr lang="en-CA" altLang="en-US" dirty="0"/>
              <a:t>Video Demonstration – Creating Eight Equal-sized Subnets (/27)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1068946"/>
            <a:ext cx="8853286" cy="3789490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Create 8 Equal-sized Subnets from 192.168.1.0 /24</a:t>
            </a:r>
          </a:p>
          <a:p>
            <a:r>
              <a:rPr lang="en-CA" altLang="en-US" sz="1400" dirty="0"/>
              <a:t>Borrow 3 bits – 11111111.11111111.11111111.</a:t>
            </a:r>
            <a:r>
              <a:rPr lang="en-CA" altLang="en-US" sz="1400" dirty="0">
                <a:solidFill>
                  <a:srgbClr val="FF0000"/>
                </a:solidFill>
              </a:rPr>
              <a:t>111</a:t>
            </a:r>
            <a:r>
              <a:rPr lang="en-CA" altLang="en-US" sz="1400" dirty="0"/>
              <a:t>00000</a:t>
            </a:r>
          </a:p>
          <a:p>
            <a:r>
              <a:rPr lang="en-US" altLang="en-US" sz="1400" dirty="0"/>
              <a:t>Magic Number = 32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1400" dirty="0"/>
              <a:t>192.168.1.0 /27 </a:t>
            </a:r>
            <a:r>
              <a:rPr lang="en-US" altLang="en-US" sz="1400" dirty="0">
                <a:solidFill>
                  <a:srgbClr val="FF0000"/>
                </a:solidFill>
              </a:rPr>
              <a:t>(Start at 0)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192.168.1.32 /27 </a:t>
            </a:r>
            <a:r>
              <a:rPr lang="en-US" sz="1400" dirty="0">
                <a:solidFill>
                  <a:srgbClr val="FF0000"/>
                </a:solidFill>
              </a:rPr>
              <a:t>(Add 32 to previous network)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192.168.1.64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192.168.1.96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192.168.1.128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192.168.1.160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192.168.1.192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  <a:endParaRPr lang="en-US" sz="1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192.168.1.224 /27 </a:t>
            </a:r>
            <a:r>
              <a:rPr lang="en-US" sz="1400" dirty="0">
                <a:solidFill>
                  <a:srgbClr val="FF0000"/>
                </a:solidFill>
              </a:rPr>
              <a:t>(Add 32)</a:t>
            </a:r>
          </a:p>
          <a:p>
            <a:endParaRPr lang="en-US" sz="1400" dirty="0"/>
          </a:p>
          <a:p>
            <a:endParaRPr lang="en-CA" altLang="en-US" dirty="0"/>
          </a:p>
          <a:p>
            <a:endParaRPr lang="en-CA" altLang="en-US" dirty="0"/>
          </a:p>
          <a:p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674" y="1931831"/>
            <a:ext cx="3866677" cy="200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8479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</a:t>
            </a:r>
            <a:br>
              <a:rPr lang="en-US" altLang="en-US" dirty="0"/>
            </a:br>
            <a:r>
              <a:rPr lang="en-US" altLang="en-US" dirty="0"/>
              <a:t>Creating Subnets with a /16 prefix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43" y="798944"/>
            <a:ext cx="5841842" cy="416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7221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</a:t>
            </a:r>
            <a:br>
              <a:rPr lang="en-US" altLang="en-US" dirty="0"/>
            </a:br>
            <a:r>
              <a:rPr lang="en-US" altLang="en-US" dirty="0"/>
              <a:t>Creating 100 Subnets with a /16 prefix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0" y="953037"/>
            <a:ext cx="4118161" cy="393288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852" y="953038"/>
            <a:ext cx="3465762" cy="393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5612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</a:t>
            </a:r>
            <a:br>
              <a:rPr lang="en-US" altLang="en-US" dirty="0"/>
            </a:br>
            <a:r>
              <a:rPr lang="en-US" altLang="en-US" dirty="0"/>
              <a:t>Calculating the Hosts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8" y="1054100"/>
            <a:ext cx="4134431" cy="2863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681" y="566670"/>
            <a:ext cx="4154208" cy="420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4814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5342335" cy="4155319"/>
          </a:xfrm>
        </p:spPr>
        <p:txBody>
          <a:bodyPr/>
          <a:lstStyle/>
          <a:p>
            <a:pPr>
              <a:defRPr/>
            </a:pPr>
            <a:r>
              <a:rPr lang="en-CA" dirty="0"/>
              <a:t>An enterprise network requires 100 equal-sized subnets starting from 172.16.0.0/16</a:t>
            </a:r>
          </a:p>
          <a:p>
            <a:pPr lvl="1">
              <a:defRPr/>
            </a:pPr>
            <a:r>
              <a:rPr lang="en-CA" dirty="0"/>
              <a:t>New Subnet Mask </a:t>
            </a:r>
          </a:p>
          <a:p>
            <a:pPr lvl="2">
              <a:defRPr/>
            </a:pPr>
            <a:r>
              <a:rPr lang="en-CA" dirty="0"/>
              <a:t>11111111.11111111.</a:t>
            </a:r>
            <a:r>
              <a:rPr lang="en-CA" dirty="0">
                <a:solidFill>
                  <a:srgbClr val="FF0000"/>
                </a:solidFill>
              </a:rPr>
              <a:t>1111111</a:t>
            </a:r>
            <a:r>
              <a:rPr lang="en-CA" dirty="0"/>
              <a:t>0.00000000</a:t>
            </a:r>
          </a:p>
          <a:p>
            <a:pPr lvl="1">
              <a:defRPr/>
            </a:pPr>
            <a:r>
              <a:rPr lang="en-CA" dirty="0"/>
              <a:t>2^7 = 128 Subnets </a:t>
            </a:r>
          </a:p>
          <a:p>
            <a:pPr lvl="1">
              <a:defRPr/>
            </a:pPr>
            <a:r>
              <a:rPr lang="en-CA" dirty="0"/>
              <a:t>2^9 = 512 hosts per subnet</a:t>
            </a:r>
          </a:p>
          <a:p>
            <a:pPr lvl="1">
              <a:defRPr/>
            </a:pPr>
            <a:r>
              <a:rPr lang="en-CA" dirty="0"/>
              <a:t>Magic Number = </a:t>
            </a:r>
            <a:r>
              <a:rPr lang="en-CA" b="1" dirty="0"/>
              <a:t>2</a:t>
            </a:r>
          </a:p>
          <a:p>
            <a:pPr lvl="1">
              <a:defRPr/>
            </a:pPr>
            <a:r>
              <a:rPr lang="en-CA" dirty="0"/>
              <a:t>172.16.</a:t>
            </a:r>
            <a:r>
              <a:rPr lang="en-CA" b="1" dirty="0">
                <a:solidFill>
                  <a:srgbClr val="FF0000"/>
                </a:solidFill>
              </a:rPr>
              <a:t>0</a:t>
            </a:r>
            <a:r>
              <a:rPr lang="en-CA" dirty="0"/>
              <a:t>.0 /23</a:t>
            </a:r>
          </a:p>
          <a:p>
            <a:pPr lvl="1">
              <a:defRPr/>
            </a:pPr>
            <a:r>
              <a:rPr lang="en-CA" dirty="0"/>
              <a:t>172.16.</a:t>
            </a:r>
            <a:r>
              <a:rPr lang="en-CA" b="1" dirty="0">
                <a:solidFill>
                  <a:srgbClr val="FF0000"/>
                </a:solidFill>
              </a:rPr>
              <a:t>2</a:t>
            </a:r>
            <a:r>
              <a:rPr lang="en-CA" dirty="0"/>
              <a:t>.0 /23</a:t>
            </a:r>
          </a:p>
          <a:p>
            <a:pPr lvl="1">
              <a:defRPr/>
            </a:pPr>
            <a:r>
              <a:rPr lang="en-CA" dirty="0"/>
              <a:t>172.16.</a:t>
            </a:r>
            <a:r>
              <a:rPr lang="en-CA" b="1" dirty="0">
                <a:solidFill>
                  <a:srgbClr val="FF0000"/>
                </a:solidFill>
              </a:rPr>
              <a:t>4</a:t>
            </a:r>
            <a:r>
              <a:rPr lang="en-CA" dirty="0"/>
              <a:t>.0 /23</a:t>
            </a:r>
          </a:p>
          <a:p>
            <a:pPr lvl="1">
              <a:defRPr/>
            </a:pPr>
            <a:r>
              <a:rPr lang="en-CA" dirty="0"/>
              <a:t>172.16.</a:t>
            </a:r>
            <a:r>
              <a:rPr lang="en-CA" b="1" dirty="0">
                <a:solidFill>
                  <a:srgbClr val="FF0000"/>
                </a:solidFill>
              </a:rPr>
              <a:t>6</a:t>
            </a:r>
            <a:r>
              <a:rPr lang="en-CA" dirty="0"/>
              <a:t>.0 /23</a:t>
            </a:r>
          </a:p>
          <a:p>
            <a:pPr lvl="1">
              <a:defRPr/>
            </a:pPr>
            <a:r>
              <a:rPr lang="is-IS" dirty="0"/>
              <a:t>…</a:t>
            </a:r>
          </a:p>
          <a:p>
            <a:pPr lvl="1">
              <a:defRPr/>
            </a:pPr>
            <a:r>
              <a:rPr lang="is-IS" dirty="0"/>
              <a:t>172.16.</a:t>
            </a:r>
            <a:r>
              <a:rPr lang="is-IS" b="1" dirty="0">
                <a:solidFill>
                  <a:srgbClr val="FF0000"/>
                </a:solidFill>
              </a:rPr>
              <a:t>254</a:t>
            </a:r>
            <a:r>
              <a:rPr lang="is-IS" dirty="0"/>
              <a:t>.0 /23</a:t>
            </a:r>
            <a:endParaRPr lang="en-US" dirty="0"/>
          </a:p>
          <a:p>
            <a:pPr>
              <a:defRPr/>
            </a:pPr>
            <a:endParaRPr lang="en-CA" dirty="0"/>
          </a:p>
          <a:p>
            <a:pPr>
              <a:defRPr/>
            </a:pPr>
            <a:endParaRPr lang="en-CA" dirty="0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 </a:t>
            </a:r>
            <a:br>
              <a:rPr lang="en-CA" altLang="en-US" sz="1600" dirty="0"/>
            </a:br>
            <a:r>
              <a:rPr lang="en-CA" altLang="en-US" sz="2300" dirty="0"/>
              <a:t>Video Demonstration – Creating One Hundred Equal-sized Subnets</a:t>
            </a:r>
            <a:endParaRPr lang="en-CA" altLang="en-US" sz="2300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641" y="1208766"/>
            <a:ext cx="3820450" cy="19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52977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</a:t>
            </a:r>
            <a:br>
              <a:rPr lang="en-US" altLang="en-US" dirty="0"/>
            </a:br>
            <a:r>
              <a:rPr lang="en-US" altLang="en-US" dirty="0"/>
              <a:t>Creating 1000 Subnets with a /8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6" y="1104900"/>
            <a:ext cx="616026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3375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</a:t>
            </a:r>
            <a:br>
              <a:rPr lang="en-US" altLang="en-US" dirty="0"/>
            </a:br>
            <a:r>
              <a:rPr lang="en-US" altLang="en-US" dirty="0"/>
              <a:t>Creating 1000 Subnets with a /8 Network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5" y="810528"/>
            <a:ext cx="3807185" cy="41401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290" y="810528"/>
            <a:ext cx="3625850" cy="1465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636" y="2370438"/>
            <a:ext cx="3993010" cy="251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12997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 /16 and /8 Prefix </a:t>
            </a:r>
            <a:br>
              <a:rPr lang="en-CA" altLang="en-US" sz="1600" dirty="0"/>
            </a:br>
            <a:r>
              <a:rPr lang="en-CA" altLang="en-US" sz="2300" dirty="0"/>
              <a:t>Video Demonstration – </a:t>
            </a:r>
            <a:r>
              <a:rPr lang="en-CA" altLang="en-US" sz="2300" dirty="0" err="1"/>
              <a:t>Subnetting</a:t>
            </a:r>
            <a:r>
              <a:rPr lang="en-CA" altLang="en-US" sz="2300" dirty="0"/>
              <a:t> Across Multiple Octets</a:t>
            </a:r>
            <a:endParaRPr lang="en-CA" altLang="en-US" sz="23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32" y="1107582"/>
            <a:ext cx="3840800" cy="19829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11" y="943460"/>
            <a:ext cx="3593227" cy="200257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11" y="3090551"/>
            <a:ext cx="3797300" cy="939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1532" y="3425780"/>
            <a:ext cx="29907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New Challenge Problem: Create over 300 Equal-sized Subnets of 20,000 Hosts each starting from 10.0.0.0/8</a:t>
            </a:r>
          </a:p>
        </p:txBody>
      </p:sp>
    </p:spTree>
    <p:extLst>
      <p:ext uri="{BB962C8B-B14F-4D97-AF65-F5344CB8AC3E}">
        <p14:creationId xmlns:p14="http://schemas.microsoft.com/office/powerpoint/2010/main" val="201315971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/>
              <a:t>Subnetting</a:t>
            </a:r>
            <a:r>
              <a:rPr lang="en-US" sz="1600" dirty="0"/>
              <a:t> to Meet Requirements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altLang="en-US" dirty="0" err="1"/>
              <a:t>Subnetting</a:t>
            </a:r>
            <a:r>
              <a:rPr lang="en-US" altLang="en-US" dirty="0"/>
              <a:t> Based on Host Requirements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98944"/>
            <a:ext cx="8051799" cy="382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00059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/>
              <a:t>Subnetting</a:t>
            </a:r>
            <a:r>
              <a:rPr lang="en-US" sz="1600" dirty="0"/>
              <a:t> to Meet Requirements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altLang="en-US" dirty="0" err="1"/>
              <a:t>Subnetting</a:t>
            </a:r>
            <a:r>
              <a:rPr lang="en-US" altLang="en-US" dirty="0"/>
              <a:t> Based On Network Requirements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798944"/>
            <a:ext cx="6445098" cy="3985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5751" y="1249382"/>
            <a:ext cx="1536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Host devices used by employees in the Engineering department in one network and Management in a separate network.</a:t>
            </a:r>
          </a:p>
        </p:txBody>
      </p:sp>
    </p:spTree>
    <p:extLst>
      <p:ext uri="{BB962C8B-B14F-4D97-AF65-F5344CB8AC3E}">
        <p14:creationId xmlns:p14="http://schemas.microsoft.com/office/powerpoint/2010/main" val="1952492144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/>
              <a:t>Subnetting</a:t>
            </a:r>
            <a:r>
              <a:rPr lang="en-US" sz="1600" dirty="0"/>
              <a:t> to Meet Requirements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altLang="en-US" dirty="0"/>
              <a:t>Network Requirement Example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681" y="420168"/>
            <a:ext cx="2862039" cy="9820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76" y="911172"/>
            <a:ext cx="4703531" cy="37046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107" y="1665868"/>
            <a:ext cx="3843781" cy="326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79289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/>
              <a:t>Subnetting</a:t>
            </a:r>
            <a:r>
              <a:rPr lang="en-US" sz="1600" dirty="0"/>
              <a:t> to Meet Requirements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altLang="en-US" dirty="0"/>
              <a:t>Network Requirement Example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133" y="798944"/>
            <a:ext cx="5209735" cy="419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1640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10" y="1855694"/>
            <a:ext cx="4423691" cy="3180915"/>
          </a:xfrm>
          <a:prstGeom prst="rect">
            <a:avLst/>
          </a:prstGeom>
        </p:spPr>
      </p:pic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CA" altLang="en-US" dirty="0"/>
              <a:t>Traditional </a:t>
            </a:r>
            <a:r>
              <a:rPr lang="en-CA" altLang="en-US" dirty="0" err="1"/>
              <a:t>Subnetting</a:t>
            </a:r>
            <a:r>
              <a:rPr lang="en-CA" altLang="en-US" dirty="0"/>
              <a:t> Wastes Addresses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684" y="798944"/>
            <a:ext cx="4491317" cy="1205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071" y="2255381"/>
            <a:ext cx="3689627" cy="255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39037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CA" altLang="en-US" dirty="0"/>
              <a:t>Variable Length Subnet Masks (VLSM)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77" y="1168276"/>
            <a:ext cx="4195526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0541" y="798944"/>
            <a:ext cx="174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Traditional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168276"/>
            <a:ext cx="4435853" cy="3684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11588" y="798944"/>
            <a:ext cx="29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Subnets of Varying Sizes</a:t>
            </a:r>
          </a:p>
        </p:txBody>
      </p:sp>
    </p:spTree>
    <p:extLst>
      <p:ext uri="{BB962C8B-B14F-4D97-AF65-F5344CB8AC3E}">
        <p14:creationId xmlns:p14="http://schemas.microsoft.com/office/powerpoint/2010/main" val="1119734515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CA" altLang="en-US" dirty="0"/>
              <a:t>Basic VLSM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4" y="1168276"/>
            <a:ext cx="5685685" cy="3848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8459" y="798944"/>
            <a:ext cx="278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</a:t>
            </a:r>
            <a:r>
              <a:rPr lang="en-US" dirty="0" err="1"/>
              <a:t>Subnetting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280" y="280094"/>
            <a:ext cx="3542452" cy="2188882"/>
          </a:xfrm>
          <a:prstGeom prst="rect">
            <a:avLst/>
          </a:prstGeom>
        </p:spPr>
      </p:pic>
      <p:sp>
        <p:nvSpPr>
          <p:cNvPr id="15" name="Left-Up Arrow 14"/>
          <p:cNvSpPr/>
          <p:nvPr/>
        </p:nvSpPr>
        <p:spPr>
          <a:xfrm>
            <a:off x="4836343" y="3241738"/>
            <a:ext cx="2460812" cy="1775012"/>
          </a:xfrm>
          <a:prstGeom prst="leftUp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67942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 </a:t>
            </a:r>
            <a:br>
              <a:rPr lang="en-US" sz="1600" dirty="0"/>
            </a:br>
            <a:r>
              <a:rPr lang="en-CA" altLang="en-US" dirty="0"/>
              <a:t>Video Demonstration – VLSM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4360202" cy="1519252"/>
          </a:xfrm>
        </p:spPr>
        <p:txBody>
          <a:bodyPr/>
          <a:lstStyle/>
          <a:p>
            <a:r>
              <a:rPr lang="en-CA" altLang="en-US" dirty="0"/>
              <a:t>Basic VLSM</a:t>
            </a:r>
            <a:endParaRPr lang="en-CA" altLang="en-US" dirty="0">
              <a:solidFill>
                <a:srgbClr val="000000"/>
              </a:solidFill>
            </a:endParaRPr>
          </a:p>
          <a:p>
            <a:pPr lvl="1"/>
            <a:r>
              <a:rPr lang="en-CA" altLang="en-US" dirty="0">
                <a:solidFill>
                  <a:srgbClr val="000000"/>
                </a:solidFill>
              </a:rPr>
              <a:t>Subnets do not have to be equal sizes, as long as their address ranges do not overlap.</a:t>
            </a:r>
          </a:p>
          <a:p>
            <a:pPr lvl="1"/>
            <a:r>
              <a:rPr lang="en-CA" altLang="en-US" dirty="0">
                <a:solidFill>
                  <a:srgbClr val="000000"/>
                </a:solidFill>
              </a:rPr>
              <a:t>When creating subnets it is easier to work from larger to smaller.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65" y="2446532"/>
            <a:ext cx="4906861" cy="170896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26" y="1458308"/>
            <a:ext cx="3533864" cy="17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62522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CA" altLang="en-US" dirty="0"/>
              <a:t>VLSM in Practice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93" y="720539"/>
            <a:ext cx="6426347" cy="44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1376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CA" altLang="en-US" dirty="0"/>
              <a:t>VLSM Chart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519" y="509068"/>
            <a:ext cx="6133945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2464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Benefits of Variable Length Subnet Masking </a:t>
            </a:r>
            <a:br>
              <a:rPr lang="en-US" sz="1600" dirty="0"/>
            </a:br>
            <a:r>
              <a:rPr lang="en-CA" altLang="en-US" dirty="0"/>
              <a:t>Video Demonstration – VLSM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44" y="933729"/>
            <a:ext cx="2985501" cy="2622075"/>
          </a:xfrm>
        </p:spPr>
        <p:txBody>
          <a:bodyPr/>
          <a:lstStyle/>
          <a:p>
            <a:r>
              <a:rPr lang="en-CA" altLang="en-US" dirty="0"/>
              <a:t>Given the network 172.16.0.0 /23 creates subnets: </a:t>
            </a:r>
            <a:endParaRPr lang="en-CA" altLang="en-US" dirty="0">
              <a:solidFill>
                <a:srgbClr val="000000"/>
              </a:solidFill>
            </a:endParaRPr>
          </a:p>
          <a:p>
            <a:pPr lvl="1"/>
            <a:r>
              <a:rPr lang="en-CA" altLang="en-US" dirty="0">
                <a:solidFill>
                  <a:srgbClr val="000000"/>
                </a:solidFill>
              </a:rPr>
              <a:t>1 network for 200 hosts -</a:t>
            </a:r>
            <a:r>
              <a:rPr lang="en-CA" altLang="en-US" dirty="0">
                <a:solidFill>
                  <a:srgbClr val="FF0000"/>
                </a:solidFill>
              </a:rPr>
              <a:t> 256</a:t>
            </a:r>
            <a:endParaRPr lang="en-CA" altLang="en-US" dirty="0">
              <a:solidFill>
                <a:srgbClr val="000000"/>
              </a:solidFill>
            </a:endParaRPr>
          </a:p>
          <a:p>
            <a:pPr lvl="1"/>
            <a:r>
              <a:rPr lang="en-CA" altLang="en-US" dirty="0"/>
              <a:t>1 network for 100 hosts - </a:t>
            </a:r>
            <a:r>
              <a:rPr lang="en-CA" altLang="en-US" dirty="0">
                <a:solidFill>
                  <a:srgbClr val="FF0000"/>
                </a:solidFill>
              </a:rPr>
              <a:t>128</a:t>
            </a:r>
            <a:endParaRPr lang="en-CA" altLang="en-US" dirty="0"/>
          </a:p>
          <a:p>
            <a:pPr lvl="1"/>
            <a:r>
              <a:rPr lang="en-CA" altLang="en-US" dirty="0">
                <a:solidFill>
                  <a:srgbClr val="000000"/>
                </a:solidFill>
              </a:rPr>
              <a:t>1 network for 50 hosts - </a:t>
            </a:r>
            <a:r>
              <a:rPr lang="en-CA" altLang="en-US" dirty="0">
                <a:solidFill>
                  <a:srgbClr val="FF0000"/>
                </a:solidFill>
              </a:rPr>
              <a:t>64</a:t>
            </a:r>
            <a:endParaRPr lang="en-CA" altLang="en-US" dirty="0">
              <a:solidFill>
                <a:srgbClr val="000000"/>
              </a:solidFill>
            </a:endParaRPr>
          </a:p>
          <a:p>
            <a:pPr lvl="1"/>
            <a:r>
              <a:rPr lang="en-CA" altLang="en-US" dirty="0"/>
              <a:t>1 network for 25 hosts - </a:t>
            </a:r>
            <a:r>
              <a:rPr lang="en-CA" altLang="en-US" dirty="0">
                <a:solidFill>
                  <a:srgbClr val="FF0000"/>
                </a:solidFill>
              </a:rPr>
              <a:t>32</a:t>
            </a:r>
            <a:endParaRPr lang="en-CA" altLang="en-US" dirty="0"/>
          </a:p>
          <a:p>
            <a:pPr lvl="1"/>
            <a:r>
              <a:rPr lang="en-CA" altLang="en-US" dirty="0">
                <a:solidFill>
                  <a:srgbClr val="000000"/>
                </a:solidFill>
              </a:rPr>
              <a:t>1 network for 10 hosts - </a:t>
            </a:r>
            <a:r>
              <a:rPr lang="en-CA" altLang="en-US" dirty="0">
                <a:solidFill>
                  <a:srgbClr val="FF0000"/>
                </a:solidFill>
              </a:rPr>
              <a:t>16</a:t>
            </a:r>
          </a:p>
          <a:p>
            <a:pPr lvl="1"/>
            <a:r>
              <a:rPr lang="en-CA" altLang="en-US" dirty="0"/>
              <a:t>4 point-to-point networks for 2 hosts each – 4x4 = </a:t>
            </a:r>
            <a:r>
              <a:rPr lang="en-CA" altLang="en-US" dirty="0">
                <a:solidFill>
                  <a:srgbClr val="FF0000"/>
                </a:solidFill>
              </a:rPr>
              <a:t>16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834" y="1891956"/>
            <a:ext cx="5791713" cy="1694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49394" y="1020428"/>
            <a:ext cx="4275786" cy="7848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CA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/23 = 2^9 hosts = </a:t>
            </a:r>
            <a:r>
              <a:rPr lang="en-CA" altLang="en-US" sz="1500" dirty="0">
                <a:solidFill>
                  <a:srgbClr val="FF0000"/>
                </a:solidFill>
                <a:latin typeface="+mn-lt"/>
                <a:ea typeface="ＭＳ Ｐゴシック" charset="0"/>
                <a:cs typeface="CiscoSans"/>
              </a:rPr>
              <a:t>512</a:t>
            </a:r>
          </a:p>
          <a:p>
            <a:r>
              <a:rPr lang="en-CA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256+128+64+32+16+16 = </a:t>
            </a:r>
            <a:r>
              <a:rPr lang="en-CA" altLang="en-US" sz="1500" dirty="0">
                <a:solidFill>
                  <a:srgbClr val="FF0000"/>
                </a:solidFill>
                <a:latin typeface="+mn-lt"/>
                <a:ea typeface="ＭＳ Ｐゴシック" charset="0"/>
                <a:cs typeface="CiscoSans"/>
              </a:rPr>
              <a:t>512 hosts needed</a:t>
            </a:r>
          </a:p>
          <a:p>
            <a:r>
              <a:rPr lang="en-CA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Address range </a:t>
            </a:r>
            <a:r>
              <a:rPr lang="en-CA" altLang="en-US" sz="1500" dirty="0">
                <a:solidFill>
                  <a:srgbClr val="FF0000"/>
                </a:solidFill>
                <a:latin typeface="+mn-lt"/>
                <a:ea typeface="ＭＳ Ｐゴシック" charset="0"/>
                <a:cs typeface="CiscoSans"/>
              </a:rPr>
              <a:t>172.16.0.0  – 172.16.1.255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031" y="3555804"/>
            <a:ext cx="1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172.16.1.248 /30 (4)</a:t>
            </a:r>
          </a:p>
          <a:p>
            <a:r>
              <a:rPr lang="en-US" sz="900" b="1" dirty="0"/>
              <a:t>172.16.1.252 /30 (4</a:t>
            </a:r>
            <a:r>
              <a:rPr lang="en-US" sz="800" dirty="0"/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956" y="3555804"/>
            <a:ext cx="2293994" cy="12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7054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sz="4000" dirty="0"/>
              <a:t>8.2 Addressing Schemes</a:t>
            </a:r>
          </a:p>
        </p:txBody>
      </p:sp>
    </p:spTree>
    <p:extLst>
      <p:ext uri="{BB962C8B-B14F-4D97-AF65-F5344CB8AC3E}">
        <p14:creationId xmlns:p14="http://schemas.microsoft.com/office/powerpoint/2010/main" val="3551905410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/>
              <a:t>Structured Design</a:t>
            </a:r>
            <a:br>
              <a:rPr lang="en-CA" altLang="en-US" sz="1600" dirty="0"/>
            </a:br>
            <a:r>
              <a:rPr lang="en-CA" altLang="en-US" dirty="0"/>
              <a:t>Network Address Planning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11" y="798944"/>
            <a:ext cx="6357980" cy="43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45078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/>
              <a:t>Structured Design</a:t>
            </a:r>
            <a:br>
              <a:rPr lang="en-CA" altLang="en-US" sz="1600" dirty="0"/>
            </a:br>
            <a:r>
              <a:rPr lang="en-CA" altLang="en-US" dirty="0"/>
              <a:t>Planning to Address the Network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6" y="1014262"/>
            <a:ext cx="3742055" cy="3684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5183" y="1014262"/>
            <a:ext cx="3804455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Each host in an internetwork must have a unique address. 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Need proper planning &amp; documentation.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Must provide &amp; control access to servers from internal hosts and external hosts. 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Layer 3 STATIC address assigned to a server can be used to control access to that server.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Monitoring security and performance of hosts means network traffic is examined for source IP addresses that are generating or receiving excessive packets. </a:t>
            </a:r>
          </a:p>
        </p:txBody>
      </p:sp>
    </p:spTree>
    <p:extLst>
      <p:ext uri="{BB962C8B-B14F-4D97-AF65-F5344CB8AC3E}">
        <p14:creationId xmlns:p14="http://schemas.microsoft.com/office/powerpoint/2010/main" val="2071579047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3668081" cy="4155319"/>
          </a:xfrm>
        </p:spPr>
        <p:txBody>
          <a:bodyPr/>
          <a:lstStyle/>
          <a:p>
            <a:r>
              <a:rPr lang="en-US" sz="1400" dirty="0"/>
              <a:t>Devices</a:t>
            </a:r>
            <a:r>
              <a:rPr lang="en-US" dirty="0"/>
              <a:t> that require addresses: </a:t>
            </a:r>
          </a:p>
          <a:p>
            <a:pPr lvl="1"/>
            <a:r>
              <a:rPr lang="en-US" altLang="en-US" b="1" dirty="0"/>
              <a:t>End user clients</a:t>
            </a:r>
            <a:r>
              <a:rPr lang="en-US" altLang="en-US" sz="1200" b="1" dirty="0"/>
              <a:t> </a:t>
            </a:r>
          </a:p>
          <a:p>
            <a:pPr lvl="1"/>
            <a:r>
              <a:rPr lang="en-US" altLang="en-US" sz="1200" dirty="0"/>
              <a:t>Can be set for DHCP to save time and manual errors.</a:t>
            </a:r>
          </a:p>
          <a:p>
            <a:pPr lvl="1"/>
            <a:r>
              <a:rPr lang="en-US" altLang="en-US" sz="1200" dirty="0"/>
              <a:t>A change in the </a:t>
            </a:r>
            <a:r>
              <a:rPr lang="en-US" altLang="en-US" sz="1200" dirty="0" err="1"/>
              <a:t>subnetting</a:t>
            </a:r>
            <a:r>
              <a:rPr lang="en-US" altLang="en-US" sz="1200" dirty="0"/>
              <a:t> scheme requires reconfiguration of DHCP server. IPv6 clients use DHCPv6/SLAAC.</a:t>
            </a:r>
          </a:p>
          <a:p>
            <a:pPr lvl="1"/>
            <a:r>
              <a:rPr lang="en-US" altLang="en-US" b="1" dirty="0"/>
              <a:t>Servers</a:t>
            </a:r>
          </a:p>
          <a:p>
            <a:pPr lvl="2"/>
            <a:r>
              <a:rPr lang="en-US" altLang="en-US" dirty="0"/>
              <a:t>Configured with static addresses. </a:t>
            </a:r>
          </a:p>
          <a:p>
            <a:pPr lvl="2"/>
            <a:r>
              <a:rPr lang="en-US" altLang="en-US" dirty="0"/>
              <a:t>Private addresses translated to public addresses if accessible from the Internet.</a:t>
            </a:r>
          </a:p>
          <a:p>
            <a:pPr lvl="1"/>
            <a:r>
              <a:rPr lang="en-US" altLang="en-US" b="1" dirty="0"/>
              <a:t>Intermediary devices</a:t>
            </a:r>
          </a:p>
          <a:p>
            <a:pPr lvl="2"/>
            <a:r>
              <a:rPr lang="en-US" altLang="en-US" dirty="0"/>
              <a:t>Set with static addresses for remote management.</a:t>
            </a:r>
          </a:p>
          <a:p>
            <a:pPr lvl="1"/>
            <a:r>
              <a:rPr lang="en-US" altLang="en-US" b="1" dirty="0"/>
              <a:t>Gateway</a:t>
            </a:r>
          </a:p>
          <a:p>
            <a:pPr lvl="2"/>
            <a:r>
              <a:rPr lang="en-US" altLang="en-US" dirty="0"/>
              <a:t>Router interface used to exit the network.</a:t>
            </a:r>
          </a:p>
          <a:p>
            <a:pPr lvl="2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/>
              <a:t>Structured Design</a:t>
            </a:r>
            <a:br>
              <a:rPr lang="en-CA" altLang="en-US" sz="1600" dirty="0"/>
            </a:br>
            <a:r>
              <a:rPr lang="en-CA" altLang="en-US" dirty="0"/>
              <a:t>Assigning Addresses to Devices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20427"/>
          <a:stretch/>
        </p:blipFill>
        <p:spPr>
          <a:xfrm>
            <a:off x="3686136" y="2061123"/>
            <a:ext cx="5363371" cy="150578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60310440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29864" cy="1827791"/>
          </a:xfrm>
        </p:spPr>
        <p:txBody>
          <a:bodyPr/>
          <a:lstStyle/>
          <a:p>
            <a:r>
              <a:rPr lang="en-US" sz="4000" dirty="0"/>
              <a:t>8.3 </a:t>
            </a:r>
            <a:r>
              <a:rPr lang="en-US" sz="4000"/>
              <a:t>Design Considerations for IPv6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1872427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IPv6 Network</a:t>
            </a:r>
            <a:br>
              <a:rPr lang="en-CA" altLang="en-US" sz="1600" dirty="0"/>
            </a:br>
            <a:r>
              <a:rPr lang="en-CA" altLang="en-US" dirty="0"/>
              <a:t>The IPv6 Global Unicast Address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659" y="1582169"/>
            <a:ext cx="5669254" cy="1590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2488" y="1098217"/>
            <a:ext cx="462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Structure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056" y="3250672"/>
            <a:ext cx="4627719" cy="118580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1" y="966371"/>
            <a:ext cx="3438658" cy="3863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IPv6 </a:t>
            </a:r>
            <a:r>
              <a:rPr lang="en-US" sz="15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subnetting</a:t>
            </a: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is not concerned with conserving address space.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IPv6 </a:t>
            </a:r>
            <a:r>
              <a:rPr lang="en-US" sz="15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subnetting</a:t>
            </a: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 is about building an addressing hierarchy based on the number of subnetworks needed</a:t>
            </a:r>
            <a:r>
              <a:rPr lang="en-US" sz="1600" dirty="0"/>
              <a:t>.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IPv6 link-local address is never </a:t>
            </a:r>
            <a:r>
              <a:rPr lang="en-US" sz="15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subnetted</a:t>
            </a: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 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IPv6 global unicast address can be </a:t>
            </a:r>
            <a:r>
              <a:rPr lang="en-US" sz="1500" dirty="0" err="1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subnetted</a:t>
            </a: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.</a:t>
            </a:r>
          </a:p>
          <a:p>
            <a:pPr marL="169863" indent="-169863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IPv6 global unicast address normally consists of a /48 global routing prefix, a 16 bit subnet ID, and a 64 bit interface ID.</a:t>
            </a:r>
            <a:endParaRPr lang="en-US" altLang="en-US" sz="15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2376591089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IPv6 Network</a:t>
            </a:r>
            <a:br>
              <a:rPr lang="en-CA" altLang="en-US" sz="1600" dirty="0"/>
            </a:br>
            <a:r>
              <a:rPr lang="en-CA" altLang="en-US" dirty="0" err="1"/>
              <a:t>Subnetting</a:t>
            </a:r>
            <a:r>
              <a:rPr lang="en-CA" altLang="en-US" dirty="0"/>
              <a:t> Using the Subnet ID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576" y="1378039"/>
            <a:ext cx="4640065" cy="35593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576" y="960553"/>
            <a:ext cx="4640066" cy="4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43625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1600" dirty="0" err="1"/>
              <a:t>Subnetting</a:t>
            </a:r>
            <a:r>
              <a:rPr lang="en-CA" altLang="en-US" sz="1600" dirty="0"/>
              <a:t> an IPv6 Network</a:t>
            </a:r>
            <a:br>
              <a:rPr lang="en-CA" altLang="en-US" sz="1600" dirty="0"/>
            </a:br>
            <a:r>
              <a:rPr lang="en-CA" altLang="en-US" dirty="0"/>
              <a:t>IPv6 Subnet Allocation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484" r="6785"/>
          <a:stretch/>
        </p:blipFill>
        <p:spPr>
          <a:xfrm>
            <a:off x="5171611" y="226603"/>
            <a:ext cx="3348299" cy="2533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611" y="2874886"/>
            <a:ext cx="3419148" cy="2079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46" y="1107583"/>
            <a:ext cx="4344241" cy="339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55539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err="1"/>
              <a:t>Subnetting</a:t>
            </a:r>
            <a:r>
              <a:rPr lang="en-US" sz="1600" dirty="0"/>
              <a:t> an IPv6 Network</a:t>
            </a:r>
            <a:br>
              <a:rPr lang="en-US" sz="1600" dirty="0"/>
            </a:br>
            <a:r>
              <a:rPr lang="en-US" sz="2000" dirty="0"/>
              <a:t>Packet Tracer – Implementing a </a:t>
            </a:r>
            <a:r>
              <a:rPr lang="en-US" sz="2000" dirty="0" err="1"/>
              <a:t>Subnetted</a:t>
            </a:r>
            <a:r>
              <a:rPr lang="en-US" sz="2000" dirty="0"/>
              <a:t> IPv6 Addressing Scheme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752" y="798944"/>
            <a:ext cx="4405405" cy="424845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620524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8.4 Chapter Summary</a:t>
            </a:r>
          </a:p>
        </p:txBody>
      </p:sp>
    </p:spTree>
    <p:extLst>
      <p:ext uri="{BB962C8B-B14F-4D97-AF65-F5344CB8AC3E}">
        <p14:creationId xmlns:p14="http://schemas.microsoft.com/office/powerpoint/2010/main" val="3886944279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1600" dirty="0"/>
              <a:t>Conclusion</a:t>
            </a:r>
            <a:br>
              <a:rPr lang="sv-SE" sz="1600" dirty="0"/>
            </a:br>
            <a:r>
              <a:rPr lang="sv-SE" dirty="0"/>
              <a:t>Packet Tracer - Skills Integration Challenge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256" y="798944"/>
            <a:ext cx="5188684" cy="4283532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31295985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1417131" y="1154627"/>
            <a:ext cx="6450388" cy="18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an IPv4 addressing scheme to enable end-to-end connectivity in a small to medium-sized business network.</a:t>
            </a:r>
          </a:p>
          <a:p>
            <a:r>
              <a:rPr lang="en-US" dirty="0"/>
              <a:t>Given a set of requirements, implement a VLSM addressing scheme to provide connectivity to end users in a small to medium-sized network.</a:t>
            </a:r>
          </a:p>
          <a:p>
            <a:r>
              <a:rPr lang="en-US" dirty="0"/>
              <a:t>Explain design considerations for implementing IPv6 in a business network.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Conclusion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Chapter 8: </a:t>
            </a:r>
            <a:r>
              <a:rPr lang="en-US" dirty="0" err="1">
                <a:latin typeface="Arial" charset="0"/>
              </a:rPr>
              <a:t>Subnetting</a:t>
            </a:r>
            <a:r>
              <a:rPr lang="en-US" dirty="0">
                <a:latin typeface="Arial" charset="0"/>
              </a:rPr>
              <a:t> IP Networks</a:t>
            </a:r>
          </a:p>
        </p:txBody>
      </p:sp>
    </p:spTree>
    <p:extLst>
      <p:ext uri="{BB962C8B-B14F-4D97-AF65-F5344CB8AC3E}">
        <p14:creationId xmlns:p14="http://schemas.microsoft.com/office/powerpoint/2010/main" val="2175629910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Section 8.1– 8.3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253960"/>
              </p:ext>
            </p:extLst>
          </p:nvPr>
        </p:nvGraphicFramePr>
        <p:xfrm>
          <a:off x="144463" y="798513"/>
          <a:ext cx="8853486" cy="782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+mn-lt"/>
                        </a:rPr>
                        <a:t>octet boundary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Variable Length Subnet Masking (VLSM)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453015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11720</TotalTime>
  <Words>2943</Words>
  <Application>Microsoft Office PowerPoint</Application>
  <PresentationFormat>On-screen Show (16:9)</PresentationFormat>
  <Paragraphs>441</Paragraphs>
  <Slides>58</Slides>
  <Notes>57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CiscoSans ExtraLight</vt:lpstr>
      <vt:lpstr>Wingdings</vt:lpstr>
      <vt:lpstr>Default Theme</vt:lpstr>
      <vt:lpstr>Chapter 8:  Subnetting IP Networks</vt:lpstr>
      <vt:lpstr>Chapter 8 - Sections &amp; Objectives</vt:lpstr>
      <vt:lpstr>Chapter 8 - Sections &amp; Objectives (Cont.)</vt:lpstr>
      <vt:lpstr>8.1 Subnetting an IPv4 Network</vt:lpstr>
      <vt:lpstr>Network Segmentation Broadcast Domains</vt:lpstr>
      <vt:lpstr>Network Segmentation Problems with Large Broadcast Domains</vt:lpstr>
      <vt:lpstr>Network Segmentation Reasons for Subnetting</vt:lpstr>
      <vt:lpstr>Subnetting an IPv4 Network Octet Boundaries</vt:lpstr>
      <vt:lpstr>Subnetting an IPv4 Network  Subnetting on the Octet Boundary</vt:lpstr>
      <vt:lpstr>Subnetting an IPv4 Network  Subnetting on the Octet Boundary (Cont.)</vt:lpstr>
      <vt:lpstr>Subnetting an IPv4 Network  Classless Subnetting</vt:lpstr>
      <vt:lpstr>Subnetting an IPv4 Network Video Demonstration – The Subnet Mask</vt:lpstr>
      <vt:lpstr>Subnetting an IPv4 Network Video Demonstration – The Subnet Mask (Cont.)</vt:lpstr>
      <vt:lpstr>Subnetting an IPv4 Network Video Demonstration – Subnetting with the Magic Number</vt:lpstr>
      <vt:lpstr>Subnetting an IPv4 Network Video Demonstration – Subnetting with the Magic Number (Cont.)</vt:lpstr>
      <vt:lpstr>Subnetting an IPv4 Network Video Demonstration – Subnetting with the Magic Number (Cont.)</vt:lpstr>
      <vt:lpstr>Subnetting an IPv4 Network  Classless Subnetting Example</vt:lpstr>
      <vt:lpstr>Subnetting an IPv4 Network  Creating 2 Subnets</vt:lpstr>
      <vt:lpstr>Subnetting an IPv4 Network Video Demonstration – Creating Two Equal-sized Subnets (/25)</vt:lpstr>
      <vt:lpstr>Subnetting an IPv4 Network  Subnetting Formulas</vt:lpstr>
      <vt:lpstr>Subnetting an IPv4 Network  Subnetting Formulas (Cont.)</vt:lpstr>
      <vt:lpstr>Subnetting an IPv4 Network  Creating 4 Subnets</vt:lpstr>
      <vt:lpstr>Subnetting an IPv4 Network  Creating 4 Subnets (Cont.)</vt:lpstr>
      <vt:lpstr>Subnetting an IPv4 Network  Creating 4 Subnets (Cont.)</vt:lpstr>
      <vt:lpstr>Subnetting an IPv4 Network Video Demonstration – Creating Four Equal-sized Subnets (/26)</vt:lpstr>
      <vt:lpstr>Subnetting an IPv4 Network Video Demonstration – Creating Eight Equal-sized Subnets (/27)</vt:lpstr>
      <vt:lpstr>Subnetting a /16 and /8 Prefix Creating Subnets with a /16 prefix</vt:lpstr>
      <vt:lpstr>Subnetting a /16 and /8 Prefix Creating 100 Subnets with a /16 prefix</vt:lpstr>
      <vt:lpstr>Subnetting a /16 and /8 Prefix Calculating the Hosts</vt:lpstr>
      <vt:lpstr>Subnetting a /16 and /8 Prefix  Video Demonstration – Creating One Hundred Equal-sized Subnets</vt:lpstr>
      <vt:lpstr>Subnetting a /16 and /8 Prefix Creating 1000 Subnets with a /8 Network</vt:lpstr>
      <vt:lpstr>Subnetting a /16 and /8 Prefix Creating 1000 Subnets with a /8 Network (Cont.)</vt:lpstr>
      <vt:lpstr>Subnetting a /16 and /8 Prefix  Video Demonstration – Subnetting Across Multiple Octets</vt:lpstr>
      <vt:lpstr>Subnetting to Meet Requirements Subnetting Based on Host Requirements</vt:lpstr>
      <vt:lpstr>Subnetting to Meet Requirements Subnetting Based On Network Requirements</vt:lpstr>
      <vt:lpstr>Subnetting to Meet Requirements Network Requirement Example</vt:lpstr>
      <vt:lpstr>Subnetting to Meet Requirements Network Requirement Example (Cont.)</vt:lpstr>
      <vt:lpstr>Benefits of Variable Length Subnet Masking Traditional Subnetting Wastes Addresses</vt:lpstr>
      <vt:lpstr>Benefits of Variable Length Subnet Masking Variable Length Subnet Masks (VLSM)</vt:lpstr>
      <vt:lpstr>Benefits of Variable Length Subnet Masking Basic VLSM</vt:lpstr>
      <vt:lpstr>Benefits of Variable Length Subnet Masking  Video Demonstration – VLSM Basics</vt:lpstr>
      <vt:lpstr>Benefits of Variable Length Subnet Masking VLSM in Practice</vt:lpstr>
      <vt:lpstr>Benefits of Variable Length Subnet Masking VLSM Chart</vt:lpstr>
      <vt:lpstr>Benefits of Variable Length Subnet Masking  Video Demonstration – VLSM Example</vt:lpstr>
      <vt:lpstr>8.2 Addressing Schemes</vt:lpstr>
      <vt:lpstr>Structured Design Network Address Planning</vt:lpstr>
      <vt:lpstr>Structured Design Planning to Address the Network</vt:lpstr>
      <vt:lpstr>Structured Design Assigning Addresses to Devices</vt:lpstr>
      <vt:lpstr>8.3 Design Considerations for IPv6</vt:lpstr>
      <vt:lpstr>Subnetting an IPv6 Network The IPv6 Global Unicast Address</vt:lpstr>
      <vt:lpstr>Subnetting an IPv6 Network Subnetting Using the Subnet ID</vt:lpstr>
      <vt:lpstr>Subnetting an IPv6 Network IPv6 Subnet Allocation</vt:lpstr>
      <vt:lpstr>Subnetting an IPv6 Network Packet Tracer – Implementing a Subnetted IPv6 Addressing Scheme</vt:lpstr>
      <vt:lpstr>8.4 Chapter Summary</vt:lpstr>
      <vt:lpstr>Conclusion Packet Tracer - Skills Integration Challenge </vt:lpstr>
      <vt:lpstr>Conclusion Chapter 8: Subnetting IP Networks</vt:lpstr>
      <vt:lpstr>Section 8.1– 8.3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ศรายุทธ ธเนศสกุลวัฒนา</cp:lastModifiedBy>
  <cp:revision>337</cp:revision>
  <dcterms:created xsi:type="dcterms:W3CDTF">2016-08-22T22:27:36Z</dcterms:created>
  <dcterms:modified xsi:type="dcterms:W3CDTF">2019-12-22T23:14:09Z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